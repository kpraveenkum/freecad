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7" r:id="rId2"/>
    <p:sldId id="268" r:id="rId3"/>
    <p:sldId id="269" r:id="rId4"/>
    <p:sldId id="270" r:id="rId5"/>
    <p:sldId id="271" r:id="rId6"/>
    <p:sldId id="276" r:id="rId7"/>
    <p:sldId id="275" r:id="rId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376092"/>
    <a:srgbClr val="2A5488"/>
    <a:srgbClr val="7E50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3796" autoAdjust="0"/>
  </p:normalViewPr>
  <p:slideViewPr>
    <p:cSldViewPr>
      <p:cViewPr varScale="1">
        <p:scale>
          <a:sx n="47" d="100"/>
          <a:sy n="47" d="100"/>
        </p:scale>
        <p:origin x="874" y="6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8D6-4BEE-89E9-A5F3D2F8F32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8D6-4BEE-89E9-A5F3D2F8F32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8D6-4BEE-89E9-A5F3D2F8F32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8D6-4BEE-89E9-A5F3D2F8F32A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8D6-4BEE-89E9-A5F3D2F8F3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  <c:perspective val="6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6.1120867529631653E-2"/>
          <c:y val="3.058727034120735E-2"/>
          <c:w val="0.93440360260851274"/>
          <c:h val="0.86084865222274798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1-DAA8-4D5D-8427-A06C385F478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3-DAA8-4D5D-8427-A06C385F478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5-DAA8-4D5D-8427-A06C385F478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7-DAA8-4D5D-8427-A06C385F478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9-DAA8-4D5D-8427-A06C385F478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3"/>
                <c:pt idx="0">
                  <c:v>Architecture CAD</c:v>
                </c:pt>
                <c:pt idx="1">
                  <c:v>Mechanical CAD</c:v>
                </c:pt>
                <c:pt idx="2">
                  <c:v>Electrical CAD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45</c:v>
                </c:pt>
                <c:pt idx="2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AA8-4D5D-8427-A06C385F478E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067082386503559E-2"/>
          <c:y val="2.0365514156023362E-2"/>
          <c:w val="0.9000814120696532"/>
          <c:h val="0.71438032631711579"/>
        </c:manualLayout>
      </c:layout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7</c:v>
                </c:pt>
                <c:pt idx="2">
                  <c:v>10</c:v>
                </c:pt>
                <c:pt idx="3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44-4A79-8FF9-07DA4F2AD1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A44-4A79-8FF9-07DA4F2AD1B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A44-4A79-8FF9-07DA4F2AD1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14896480"/>
        <c:axId val="514901280"/>
      </c:lineChart>
      <c:catAx>
        <c:axId val="514896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4901280"/>
        <c:crosses val="autoZero"/>
        <c:auto val="1"/>
        <c:lblAlgn val="ctr"/>
        <c:lblOffset val="100"/>
        <c:noMultiLvlLbl val="0"/>
      </c:catAx>
      <c:valAx>
        <c:axId val="514901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48964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9884806267280754"/>
          <c:y val="0.93737342073641083"/>
          <c:w val="0.18267979947328422"/>
          <c:h val="5.705083541765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B6004-3B66-49BA-A660-30FE13D265C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68A00-7F90-4422-AC20-8D45C3ABA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960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6233" y="10664682"/>
            <a:ext cx="2677222" cy="28713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348960" y="275837"/>
            <a:ext cx="1186487" cy="81506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879341" y="10813256"/>
            <a:ext cx="14824710" cy="0"/>
          </a:xfrm>
          <a:custGeom>
            <a:avLst/>
            <a:gdLst/>
            <a:ahLst/>
            <a:cxnLst/>
            <a:rect l="l" t="t" r="r" b="b"/>
            <a:pathLst>
              <a:path w="14824710">
                <a:moveTo>
                  <a:pt x="-98" y="12"/>
                </a:moveTo>
                <a:lnTo>
                  <a:pt x="14823856" y="12"/>
                </a:lnTo>
              </a:path>
            </a:pathLst>
          </a:custGeom>
          <a:ln w="25399">
            <a:solidFill>
              <a:srgbClr val="C5C5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61" y="1407128"/>
            <a:ext cx="20104100" cy="0"/>
          </a:xfrm>
          <a:custGeom>
            <a:avLst/>
            <a:gdLst/>
            <a:ahLst/>
            <a:cxnLst/>
            <a:rect l="l" t="t" r="r" b="b"/>
            <a:pathLst>
              <a:path w="20104100">
                <a:moveTo>
                  <a:pt x="0" y="250"/>
                </a:moveTo>
                <a:lnTo>
                  <a:pt x="20103591" y="250"/>
                </a:lnTo>
              </a:path>
            </a:pathLst>
          </a:custGeom>
          <a:ln w="25399">
            <a:solidFill>
              <a:srgbClr val="C5C5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2900" y="214878"/>
            <a:ext cx="1786318" cy="96898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26968" y="304283"/>
            <a:ext cx="13249910" cy="735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68449" y="1966570"/>
            <a:ext cx="9591040" cy="3973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9160894" y="10664946"/>
            <a:ext cx="275590" cy="264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chart" Target="../charts/chart1.xml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svg"/><Relationship Id="rId7" Type="http://schemas.openxmlformats.org/officeDocument/2006/relationships/image" Target="../media/image21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jpe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76198"/>
            <a:ext cx="2127441" cy="1107663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269135"/>
              </p:ext>
            </p:extLst>
          </p:nvPr>
        </p:nvGraphicFramePr>
        <p:xfrm>
          <a:off x="908050" y="2912078"/>
          <a:ext cx="18659373" cy="58360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36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2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71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297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954530" marR="693420" indent="-795655">
                        <a:lnSpc>
                          <a:spcPct val="100000"/>
                        </a:lnSpc>
                      </a:pPr>
                      <a:r>
                        <a:rPr sz="2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</a:t>
                      </a:r>
                      <a:r>
                        <a:rPr sz="2600" b="1" spc="-4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600" b="1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members Names</a:t>
                      </a:r>
                      <a:endParaRPr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811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373505" marR="909955" indent="180975">
                        <a:lnSpc>
                          <a:spcPct val="100000"/>
                        </a:lnSpc>
                      </a:pPr>
                      <a:r>
                        <a:rPr sz="2600" b="1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Engineering Specialisation</a:t>
                      </a:r>
                      <a:endParaRPr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811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95"/>
                        </a:spcBef>
                      </a:pPr>
                      <a:endParaRPr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834" algn="ctr">
                        <a:lnSpc>
                          <a:spcPct val="100000"/>
                        </a:lnSpc>
                      </a:pPr>
                      <a:r>
                        <a:rPr sz="2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Graduating</a:t>
                      </a:r>
                      <a:r>
                        <a:rPr sz="2600" b="1" spc="-1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600" b="1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686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906905" marR="1393190" indent="-47625">
                        <a:lnSpc>
                          <a:spcPct val="100000"/>
                        </a:lnSpc>
                      </a:pPr>
                      <a:r>
                        <a:rPr sz="2600" b="1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College Names</a:t>
                      </a:r>
                      <a:endParaRPr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811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6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600"/>
                        </a:spcBef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 Praveen kumar</a:t>
                      </a:r>
                      <a:endParaRPr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AIML</a:t>
                      </a:r>
                      <a:endParaRPr lang="en-IN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2027</a:t>
                      </a:r>
                      <a:endParaRPr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Aditya College of Eng. &amp; Tech.</a:t>
                      </a:r>
                      <a:endParaRPr lang="en-IN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484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Yash Kumar Rawate</a:t>
                      </a:r>
                      <a:endParaRPr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CSE</a:t>
                      </a:r>
                      <a:endParaRPr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2027</a:t>
                      </a:r>
                      <a:endParaRPr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Aditya College of Eng. &amp; Tech.</a:t>
                      </a:r>
                      <a:endParaRPr lang="en-IN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484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Gayathri Priya</a:t>
                      </a:r>
                      <a:endParaRPr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CSE</a:t>
                      </a:r>
                      <a:endParaRPr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2027</a:t>
                      </a:r>
                      <a:endParaRPr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Aditya College of Eng. &amp; Tech.</a:t>
                      </a:r>
                      <a:endParaRPr lang="en-IN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484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Abhijeet Kumar</a:t>
                      </a:r>
                      <a:endParaRPr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CSE</a:t>
                      </a:r>
                      <a:endParaRPr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2027</a:t>
                      </a:r>
                      <a:endParaRPr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Aditya College of Eng. &amp; Tech.</a:t>
                      </a:r>
                      <a:endParaRPr lang="en-IN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7291050" y="9007475"/>
            <a:ext cx="15220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10" dirty="0">
                <a:latin typeface="Verdana"/>
                <a:cs typeface="Verdana"/>
              </a:rPr>
              <a:t>Confidential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26968" y="304283"/>
            <a:ext cx="13249910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Team</a:t>
            </a:r>
            <a:r>
              <a:rPr spc="-10" dirty="0"/>
              <a:t> </a:t>
            </a:r>
            <a:r>
              <a:rPr dirty="0"/>
              <a:t>Name</a:t>
            </a:r>
            <a:r>
              <a:rPr spc="-30" dirty="0"/>
              <a:t> </a:t>
            </a:r>
            <a:r>
              <a:rPr spc="-50" dirty="0"/>
              <a:t>:</a:t>
            </a:r>
            <a:r>
              <a:rPr lang="en-IN" spc="-50" dirty="0"/>
              <a:t> </a:t>
            </a:r>
            <a:r>
              <a:rPr lang="en-IN" sz="4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Code_</a:t>
            </a:r>
            <a:r>
              <a:rPr lang="en-IN" sz="4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crafters</a:t>
            </a:r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76198"/>
            <a:ext cx="2127441" cy="1107663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131476"/>
              </p:ext>
            </p:extLst>
          </p:nvPr>
        </p:nvGraphicFramePr>
        <p:xfrm>
          <a:off x="525043" y="2835275"/>
          <a:ext cx="19042380" cy="6696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2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7373">
                  <a:extLst>
                    <a:ext uri="{9D8B030D-6E8A-4147-A177-3AD203B41FA5}">
                      <a16:colId xmlns:a16="http://schemas.microsoft.com/office/drawing/2014/main" val="4020648792"/>
                    </a:ext>
                  </a:extLst>
                </a:gridCol>
              </a:tblGrid>
              <a:tr h="20074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>
                      <a:solidFill>
                        <a:srgbClr val="F69240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 PRAVEEN KUMAR</a:t>
                      </a:r>
                      <a:endParaRPr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656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656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YASH KUMAR RAWATE</a:t>
                      </a: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45"/>
                        </a:spcBef>
                      </a:pP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ABHIJEET KUMAR</a:t>
                      </a:r>
                    </a:p>
                  </a:txBody>
                  <a:tcPr marL="0" marR="0" marT="31051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GAYATHRI PRIYA</a:t>
                      </a:r>
                    </a:p>
                  </a:txBody>
                  <a:tcPr marL="0" marR="0" marT="31051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F69240"/>
                      </a:solidFill>
                      <a:prstDash val="solid"/>
                    </a:lnR>
                    <a:lnT w="9525">
                      <a:solidFill>
                        <a:srgbClr val="F69240"/>
                      </a:solidFill>
                      <a:prstDash val="soli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2142">
                <a:tc>
                  <a:txBody>
                    <a:bodyPr/>
                    <a:lstStyle/>
                    <a:p>
                      <a:pPr marL="467995">
                        <a:lnSpc>
                          <a:spcPct val="100000"/>
                        </a:lnSpc>
                        <a:spcBef>
                          <a:spcPts val="1985"/>
                        </a:spcBef>
                      </a:pP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Any</a:t>
                      </a:r>
                      <a:r>
                        <a:rPr sz="24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projects</a:t>
                      </a:r>
                      <a:r>
                        <a:rPr sz="2400" spc="-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you’ve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6799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worked</a:t>
                      </a:r>
                      <a:r>
                        <a:rPr sz="24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5209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VitalAir</a:t>
                      </a:r>
                      <a:r>
                        <a:rPr lang="en-IN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(Predict Blindspot AQI) ,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 It</a:t>
                      </a:r>
                      <a:r>
                        <a:rPr lang="en-IN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(Complain on loss of object)</a:t>
                      </a:r>
                      <a:endParaRPr lang="en-IN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IN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VitalAir</a:t>
                      </a:r>
                      <a:r>
                        <a:rPr lang="en-IN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(Predict Blindspot AQI)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Stock Tracker (Tracking live stocks )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IN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VitalAir</a:t>
                      </a:r>
                      <a:r>
                        <a:rPr lang="en-IN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(Predict Blindspot AQI) 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Road Safety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 in hill corners for safe journey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 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2837">
                <a:tc>
                  <a:txBody>
                    <a:bodyPr/>
                    <a:lstStyle/>
                    <a:p>
                      <a:pPr marL="467995" marR="1666875"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Past</a:t>
                      </a:r>
                      <a:r>
                        <a:rPr sz="24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Hackathon </a:t>
                      </a:r>
                      <a:r>
                        <a:rPr sz="2400" spc="-1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experienc</a:t>
                      </a:r>
                      <a:r>
                        <a:rPr lang="en-IN" sz="2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695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🥇 1st Place – Hackathon, IIT (BHU) Varanasi Led backend development and problem-solving Experience in real-world solution design under time constraints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🥇 1st Place – Hackathon, IIT (BHU) Varanasi Contributed to frontend design and implementation Strong teamwork and rapid prototyping experience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🥇 1st Place – Hackathon, IIT (BHU) Varanasi Focused on research and documentation Skilled in analyzing problems and structuring solutions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SIH internal hackathon 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3640">
                <a:tc>
                  <a:txBody>
                    <a:bodyPr/>
                    <a:lstStyle/>
                    <a:p>
                      <a:pPr marL="467995" marR="425450">
                        <a:lnSpc>
                          <a:spcPct val="100000"/>
                        </a:lnSpc>
                        <a:spcBef>
                          <a:spcPts val="1985"/>
                        </a:spcBef>
                      </a:pP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Accolades</a:t>
                      </a:r>
                      <a:r>
                        <a:rPr sz="2400" spc="-8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  <a:r>
                        <a:rPr sz="2400" spc="-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awards </a:t>
                      </a: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that</a:t>
                      </a:r>
                      <a:r>
                        <a:rPr sz="24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</a:t>
                      </a:r>
                      <a:r>
                        <a:rPr sz="24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have</a:t>
                      </a:r>
                      <a:r>
                        <a:rPr sz="24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received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5209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🥇 </a:t>
                      </a:r>
                      <a:r>
                        <a:rPr lang="en-US" sz="2400" b="1" dirty="0"/>
                        <a:t>1st Place – IIT BHU 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Hackathon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🥇 </a:t>
                      </a:r>
                      <a:r>
                        <a:rPr lang="en-US" sz="2400" b="1" dirty="0"/>
                        <a:t>1st Place – IIT BHU Hackathon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🥇 </a:t>
                      </a:r>
                      <a:r>
                        <a:rPr lang="en-US" sz="2400" b="1" dirty="0"/>
                        <a:t>1st Place – IIT BHU Hackathon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0533">
                <a:tc>
                  <a:txBody>
                    <a:bodyPr/>
                    <a:lstStyle/>
                    <a:p>
                      <a:pPr marL="467995">
                        <a:lnSpc>
                          <a:spcPct val="100000"/>
                        </a:lnSpc>
                        <a:spcBef>
                          <a:spcPts val="2900"/>
                        </a:spcBef>
                      </a:pP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Other</a:t>
                      </a:r>
                      <a:r>
                        <a:rPr sz="2400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</a:t>
                      </a:r>
                      <a:r>
                        <a:rPr sz="2400" spc="-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(If</a:t>
                      </a:r>
                      <a:r>
                        <a:rPr sz="24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any)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6830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Certified AWS Associate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Oracle Associate certified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linkedin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certified google API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linkedin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certified SQL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 </a:t>
            </a:r>
            <a:r>
              <a:rPr dirty="0"/>
              <a:t>About</a:t>
            </a:r>
            <a:r>
              <a:rPr spc="5" dirty="0"/>
              <a:t> </a:t>
            </a:r>
            <a:r>
              <a:rPr lang="en-IN" spc="-10" dirty="0"/>
              <a:t>our</a:t>
            </a:r>
            <a:r>
              <a:rPr spc="-10" dirty="0"/>
              <a:t>self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78F7D8-9A00-3423-9BDC-CBDE699261EC}"/>
              </a:ext>
            </a:extLst>
          </p:cNvPr>
          <p:cNvSpPr/>
          <p:nvPr/>
        </p:nvSpPr>
        <p:spPr>
          <a:xfrm>
            <a:off x="11116494" y="1463678"/>
            <a:ext cx="8735401" cy="8992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76198"/>
            <a:ext cx="2127441" cy="110766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3050" y="304283"/>
            <a:ext cx="14706600" cy="105541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3958"/>
              </a:lnSpc>
              <a:spcBef>
                <a:spcPts val="3958"/>
              </a:spcBef>
              <a:spcAft>
                <a:spcPts val="1979"/>
              </a:spcAft>
            </a:pPr>
            <a:r>
              <a:rPr lang="en-IN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#9: AI-Driven Design Intelligence for Early Stage CAD</a:t>
            </a:r>
            <a:endParaRPr lang="en-US" sz="4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9CAF13-B577-E6BE-C3DC-8252871E470D}"/>
              </a:ext>
            </a:extLst>
          </p:cNvPr>
          <p:cNvSpPr/>
          <p:nvPr/>
        </p:nvSpPr>
        <p:spPr>
          <a:xfrm>
            <a:off x="116775" y="1526954"/>
            <a:ext cx="3869585" cy="429251"/>
          </a:xfrm>
          <a:prstGeom prst="rect">
            <a:avLst/>
          </a:prstGeom>
          <a:noFill/>
        </p:spPr>
        <p:txBody>
          <a:bodyPr wrap="none" lIns="150781" tIns="75390" rIns="150781" bIns="7539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WHY CAD VALIDATION FAILS !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0870D0-50BF-B6A4-985C-4B6EFFEB3AE2}"/>
              </a:ext>
            </a:extLst>
          </p:cNvPr>
          <p:cNvSpPr txBox="1"/>
          <p:nvPr/>
        </p:nvSpPr>
        <p:spPr>
          <a:xfrm>
            <a:off x="206840" y="2144365"/>
            <a:ext cx="4327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Current engineers rely on </a:t>
            </a:r>
            <a:endParaRPr lang="en-IN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B02AF23-6256-3089-F186-6149D6A1AEB1}"/>
              </a:ext>
            </a:extLst>
          </p:cNvPr>
          <p:cNvSpPr/>
          <p:nvPr/>
        </p:nvSpPr>
        <p:spPr>
          <a:xfrm>
            <a:off x="793862" y="2790492"/>
            <a:ext cx="2516591" cy="706250"/>
          </a:xfrm>
          <a:prstGeom prst="rect">
            <a:avLst/>
          </a:prstGeom>
          <a:noFill/>
        </p:spPr>
        <p:txBody>
          <a:bodyPr wrap="square" lIns="150781" tIns="75390" rIns="150781" bIns="75390">
            <a:spAutoFit/>
          </a:bodyPr>
          <a:lstStyle/>
          <a:p>
            <a:pPr algn="ctr"/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MANUAL </a:t>
            </a:r>
          </a:p>
          <a:p>
            <a:pPr algn="ctr"/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CHECKS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2FAB3A5-DBB1-C4EF-D41E-797A1C86CD10}"/>
              </a:ext>
            </a:extLst>
          </p:cNvPr>
          <p:cNvSpPr txBox="1"/>
          <p:nvPr/>
        </p:nvSpPr>
        <p:spPr>
          <a:xfrm>
            <a:off x="443820" y="2820727"/>
            <a:ext cx="22097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🔍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FAC9693-25FE-43E0-6C5F-411147787560}"/>
              </a:ext>
            </a:extLst>
          </p:cNvPr>
          <p:cNvSpPr txBox="1"/>
          <p:nvPr/>
        </p:nvSpPr>
        <p:spPr>
          <a:xfrm>
            <a:off x="2847930" y="2640723"/>
            <a:ext cx="587601" cy="1005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936" dirty="0"/>
              <a:t>🗹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59F7742-6014-3894-5BBD-912B7DE9D6D7}"/>
              </a:ext>
            </a:extLst>
          </p:cNvPr>
          <p:cNvCxnSpPr>
            <a:cxnSpLocks/>
          </p:cNvCxnSpPr>
          <p:nvPr/>
        </p:nvCxnSpPr>
        <p:spPr>
          <a:xfrm>
            <a:off x="4306295" y="2331704"/>
            <a:ext cx="0" cy="1552097"/>
          </a:xfrm>
          <a:prstGeom prst="line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7DD867CE-B5B5-B692-1CE7-5F73722B2590}"/>
              </a:ext>
            </a:extLst>
          </p:cNvPr>
          <p:cNvSpPr txBox="1"/>
          <p:nvPr/>
        </p:nvSpPr>
        <p:spPr>
          <a:xfrm>
            <a:off x="4534398" y="2587275"/>
            <a:ext cx="61996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Ignore hidden inconsistencies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No real-time feedback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Dependent on individual expertise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FFCCDDB7-A69D-76ED-4397-226157B1C3BF}"/>
              </a:ext>
            </a:extLst>
          </p:cNvPr>
          <p:cNvSpPr/>
          <p:nvPr/>
        </p:nvSpPr>
        <p:spPr>
          <a:xfrm>
            <a:off x="97932" y="4020354"/>
            <a:ext cx="10345855" cy="102379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2B050B1-FAD0-FB73-21BF-2E1AD383DBD8}"/>
              </a:ext>
            </a:extLst>
          </p:cNvPr>
          <p:cNvSpPr txBox="1"/>
          <p:nvPr/>
        </p:nvSpPr>
        <p:spPr>
          <a:xfrm>
            <a:off x="236518" y="4042585"/>
            <a:ext cx="10118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missed tolerance can be the difference between "pass" and "rework." Yet most designs get approved without automated validation.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BBF4D08-19F6-F106-957C-2039B478BDD7}"/>
              </a:ext>
            </a:extLst>
          </p:cNvPr>
          <p:cNvCxnSpPr>
            <a:cxnSpLocks/>
          </p:cNvCxnSpPr>
          <p:nvPr/>
        </p:nvCxnSpPr>
        <p:spPr>
          <a:xfrm>
            <a:off x="97927" y="5342014"/>
            <a:ext cx="10345855" cy="0"/>
          </a:xfrm>
          <a:prstGeom prst="line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49E8252A-A135-664C-69DF-0470BB766463}"/>
              </a:ext>
            </a:extLst>
          </p:cNvPr>
          <p:cNvSpPr/>
          <p:nvPr/>
        </p:nvSpPr>
        <p:spPr>
          <a:xfrm>
            <a:off x="-549391" y="5364209"/>
            <a:ext cx="11079429" cy="1522628"/>
          </a:xfrm>
          <a:prstGeom prst="rect">
            <a:avLst/>
          </a:prstGeom>
          <a:noFill/>
        </p:spPr>
        <p:txBody>
          <a:bodyPr wrap="square" lIns="150781" tIns="75390" rIns="150781" bIns="7539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Part | Same Engineer | Different Outcome</a:t>
            </a:r>
            <a:endParaRPr lang="en-US" sz="8905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0F148E76-BB90-438B-6F5B-B92AEA2226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4" t="10726" r="1"/>
          <a:stretch>
            <a:fillRect/>
          </a:stretch>
        </p:blipFill>
        <p:spPr>
          <a:xfrm>
            <a:off x="1406620" y="5719432"/>
            <a:ext cx="7759747" cy="2139085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EF9C8A55-DA26-EA02-9B86-0A3849F2FBA8}"/>
              </a:ext>
            </a:extLst>
          </p:cNvPr>
          <p:cNvGrpSpPr/>
          <p:nvPr/>
        </p:nvGrpSpPr>
        <p:grpSpPr>
          <a:xfrm>
            <a:off x="97927" y="8213740"/>
            <a:ext cx="11173323" cy="2290032"/>
            <a:chOff x="-34174" y="5107764"/>
            <a:chExt cx="6847772" cy="1388775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A78B4448-99DE-7C92-E829-34CB0AEC48F4}"/>
                </a:ext>
              </a:extLst>
            </p:cNvPr>
            <p:cNvSpPr/>
            <p:nvPr/>
          </p:nvSpPr>
          <p:spPr>
            <a:xfrm>
              <a:off x="-22744" y="5107764"/>
              <a:ext cx="6670708" cy="138877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BC57F33-C034-52B4-4C47-474BC13F39A8}"/>
                </a:ext>
              </a:extLst>
            </p:cNvPr>
            <p:cNvSpPr txBox="1"/>
            <p:nvPr/>
          </p:nvSpPr>
          <p:spPr>
            <a:xfrm>
              <a:off x="59387" y="5217877"/>
              <a:ext cx="1984565" cy="3330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3958"/>
                </a:lnSpc>
                <a:spcBef>
                  <a:spcPts val="3958"/>
                </a:spcBef>
                <a:spcAft>
                  <a:spcPts val="1979"/>
                </a:spcAft>
              </a:pPr>
              <a:r>
                <a:rPr lang="en-IN" sz="2400" b="1" dirty="0">
                  <a:effectLst/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The Hard Truth</a:t>
              </a:r>
            </a:p>
          </p:txBody>
        </p:sp>
        <p:graphicFrame>
          <p:nvGraphicFramePr>
            <p:cNvPr id="75" name="Chart 74">
              <a:extLst>
                <a:ext uri="{FF2B5EF4-FFF2-40B4-BE49-F238E27FC236}">
                  <a16:creationId xmlns:a16="http://schemas.microsoft.com/office/drawing/2014/main" id="{DA1F9D91-8991-4772-248B-D500CF8A4BF0}"/>
                </a:ext>
              </a:extLst>
            </p:cNvPr>
            <p:cNvGraphicFramePr/>
            <p:nvPr/>
          </p:nvGraphicFramePr>
          <p:xfrm>
            <a:off x="-34174" y="5560804"/>
            <a:ext cx="719974" cy="92605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D8ED168-2FEE-498C-4ACA-A158E94D4911}"/>
                </a:ext>
              </a:extLst>
            </p:cNvPr>
            <p:cNvSpPr txBox="1"/>
            <p:nvPr/>
          </p:nvSpPr>
          <p:spPr>
            <a:xfrm>
              <a:off x="613140" y="5745216"/>
              <a:ext cx="1904028" cy="61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79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40% of design errors</a:t>
              </a:r>
              <a:r>
                <a:rPr lang="en-US" sz="197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 are caught after manufacturing begins</a:t>
              </a:r>
              <a:endParaRPr lang="en-IN" sz="1979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7" name="Graphic 76" descr="Bar graph with upward trend with solid fill">
              <a:extLst>
                <a:ext uri="{FF2B5EF4-FFF2-40B4-BE49-F238E27FC236}">
                  <a16:creationId xmlns:a16="http://schemas.microsoft.com/office/drawing/2014/main" id="{BA1162CF-3C25-2F4C-D676-5B722A7BCB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97890" y="5806189"/>
              <a:ext cx="499782" cy="533075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CD6C0FB7-9020-D7A0-8676-F94748DACF45}"/>
                </a:ext>
              </a:extLst>
            </p:cNvPr>
            <p:cNvSpPr txBox="1"/>
            <p:nvPr/>
          </p:nvSpPr>
          <p:spPr>
            <a:xfrm>
              <a:off x="2779284" y="5775094"/>
              <a:ext cx="1943100" cy="61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79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Late-stage fixes cost 10x more</a:t>
              </a:r>
              <a:r>
                <a:rPr lang="en-US" sz="197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 than catching them early</a:t>
              </a:r>
              <a:endParaRPr lang="en-IN" sz="1979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9" name="Graphic 78" descr="Head with gears with solid fill">
              <a:extLst>
                <a:ext uri="{FF2B5EF4-FFF2-40B4-BE49-F238E27FC236}">
                  <a16:creationId xmlns:a16="http://schemas.microsoft.com/office/drawing/2014/main" id="{3935D18B-4265-3361-5EEC-B94BE7FA77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95300" y="5745216"/>
              <a:ext cx="567718" cy="533075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DBB8C99-BE4E-D616-8B87-D7BE3254755E}"/>
                </a:ext>
              </a:extLst>
            </p:cNvPr>
            <p:cNvSpPr txBox="1"/>
            <p:nvPr/>
          </p:nvSpPr>
          <p:spPr>
            <a:xfrm>
              <a:off x="4870498" y="5835135"/>
              <a:ext cx="1943100" cy="425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79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 AI assistance</a:t>
              </a:r>
              <a:r>
                <a:rPr lang="en-US" sz="197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 = blind    trust in manual review</a:t>
              </a:r>
              <a:endParaRPr lang="en-IN" sz="1979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34B67318-5CAD-3218-1D8C-D1EC5EB76AAA}"/>
              </a:ext>
            </a:extLst>
          </p:cNvPr>
          <p:cNvSpPr/>
          <p:nvPr/>
        </p:nvSpPr>
        <p:spPr>
          <a:xfrm>
            <a:off x="11152075" y="7195781"/>
            <a:ext cx="8651168" cy="32607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F5F5549-BBDA-5BA9-CF29-15FB9A31D719}"/>
              </a:ext>
            </a:extLst>
          </p:cNvPr>
          <p:cNvGrpSpPr/>
          <p:nvPr/>
        </p:nvGrpSpPr>
        <p:grpSpPr>
          <a:xfrm>
            <a:off x="11165236" y="1265906"/>
            <a:ext cx="8822088" cy="9153082"/>
            <a:chOff x="6771085" y="578800"/>
            <a:chExt cx="5350098" cy="6087597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B102758-BBDC-183A-7085-4E1B943150F3}"/>
                </a:ext>
              </a:extLst>
            </p:cNvPr>
            <p:cNvSpPr/>
            <p:nvPr/>
          </p:nvSpPr>
          <p:spPr>
            <a:xfrm>
              <a:off x="8690706" y="743198"/>
              <a:ext cx="1716461" cy="346899"/>
            </a:xfrm>
            <a:prstGeom prst="rect">
              <a:avLst/>
            </a:prstGeom>
            <a:noFill/>
          </p:spPr>
          <p:txBody>
            <a:bodyPr wrap="square" lIns="150781" tIns="75390" rIns="150781" bIns="75390">
              <a:spAutoFit/>
            </a:bodyPr>
            <a:lstStyle/>
            <a:p>
              <a:r>
                <a:rPr lang="en-IN" sz="2400" b="1" u="sng" dirty="0">
                  <a:highlight>
                    <a:srgbClr val="00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Human Impact</a:t>
              </a: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079F24CC-2DEF-DD0E-D41B-493F0CE9D9F4}"/>
                </a:ext>
              </a:extLst>
            </p:cNvPr>
            <p:cNvSpPr/>
            <p:nvPr/>
          </p:nvSpPr>
          <p:spPr>
            <a:xfrm>
              <a:off x="6782359" y="1142420"/>
              <a:ext cx="5204011" cy="1031939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9264842F-CA7C-29BE-4BCF-444F8CF31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01473" y="1340214"/>
              <a:ext cx="703446" cy="652628"/>
            </a:xfrm>
            <a:prstGeom prst="rect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>
              <a:glow rad="228600">
                <a:schemeClr val="accent3">
                  <a:satMod val="175000"/>
                  <a:alpha val="40000"/>
                </a:schemeClr>
              </a:glow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</p:pic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E22F81B-A2E7-534B-4842-79679500BDC1}"/>
                </a:ext>
              </a:extLst>
            </p:cNvPr>
            <p:cNvSpPr/>
            <p:nvPr/>
          </p:nvSpPr>
          <p:spPr>
            <a:xfrm>
              <a:off x="8690706" y="578800"/>
              <a:ext cx="1502876" cy="1012680"/>
            </a:xfrm>
            <a:prstGeom prst="rect">
              <a:avLst/>
            </a:prstGeom>
            <a:noFill/>
          </p:spPr>
          <p:txBody>
            <a:bodyPr wrap="none" lIns="150781" tIns="75390" rIns="150781" bIns="75390">
              <a:spAutoFit/>
            </a:bodyPr>
            <a:lstStyle/>
            <a:p>
              <a:pPr algn="ctr"/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SENIOR ENGINEER</a:t>
              </a:r>
              <a:endParaRPr lang="en-US" sz="890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887C1ABD-8D68-04BA-C9CE-ED9EB46340D9}"/>
                </a:ext>
              </a:extLst>
            </p:cNvPr>
            <p:cNvSpPr/>
            <p:nvPr/>
          </p:nvSpPr>
          <p:spPr>
            <a:xfrm>
              <a:off x="6782358" y="2239551"/>
              <a:ext cx="5204011" cy="1031939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624DC0DD-AE9A-A1F9-FE68-C0FE58573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008835" y="2372153"/>
              <a:ext cx="696084" cy="790399"/>
            </a:xfrm>
            <a:prstGeom prst="rect">
              <a:avLst/>
            </a:prstGeom>
            <a:ln>
              <a:solidFill>
                <a:schemeClr val="bg2">
                  <a:lumMod val="10000"/>
                </a:schemeClr>
              </a:solidFill>
            </a:ln>
            <a:effectLst>
              <a:glow rad="228600">
                <a:schemeClr val="accent3">
                  <a:satMod val="175000"/>
                  <a:alpha val="40000"/>
                </a:schemeClr>
              </a:glow>
            </a:effectLst>
          </p:spPr>
        </p:pic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0FF40E3-42EC-2CBA-4AA9-26F1505DC24B}"/>
                </a:ext>
              </a:extLst>
            </p:cNvPr>
            <p:cNvSpPr/>
            <p:nvPr/>
          </p:nvSpPr>
          <p:spPr>
            <a:xfrm>
              <a:off x="8632925" y="1724703"/>
              <a:ext cx="1502876" cy="1012680"/>
            </a:xfrm>
            <a:prstGeom prst="rect">
              <a:avLst/>
            </a:prstGeom>
            <a:noFill/>
          </p:spPr>
          <p:txBody>
            <a:bodyPr wrap="none" lIns="150781" tIns="75390" rIns="150781" bIns="75390">
              <a:spAutoFit/>
            </a:bodyPr>
            <a:lstStyle/>
            <a:p>
              <a:pPr algn="ctr"/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JUNIOR ENGINEER</a:t>
              </a:r>
              <a:endParaRPr lang="en-US" sz="8905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3687EA9-357B-94B7-2D1E-B52ABA3B9D2B}"/>
                </a:ext>
              </a:extLst>
            </p:cNvPr>
            <p:cNvSpPr txBox="1"/>
            <p:nvPr/>
          </p:nvSpPr>
          <p:spPr>
            <a:xfrm>
              <a:off x="7827088" y="1496784"/>
              <a:ext cx="4294095" cy="429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reviewed the drawing twice. Still missed the interference fit issue. Cost us 3 weeks of rework.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3B558DC-0923-A7B2-1AAC-4CE5894CC77D}"/>
                </a:ext>
              </a:extLst>
            </p:cNvPr>
            <p:cNvSpPr txBox="1"/>
            <p:nvPr/>
          </p:nvSpPr>
          <p:spPr>
            <a:xfrm>
              <a:off x="7824837" y="2590914"/>
              <a:ext cx="3895165" cy="429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didn't know I violated the standard. No one told me until the design review — too late.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A8AB81CB-AD88-256A-D9A6-A17113A68BC6}"/>
                </a:ext>
              </a:extLst>
            </p:cNvPr>
            <p:cNvSpPr/>
            <p:nvPr/>
          </p:nvSpPr>
          <p:spPr>
            <a:xfrm>
              <a:off x="6782358" y="3336682"/>
              <a:ext cx="5204011" cy="1031939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71B87EBB-6B7B-7C42-E77B-24AFCF8D6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08835" y="3454273"/>
              <a:ext cx="696084" cy="740008"/>
            </a:xfrm>
            <a:prstGeom prst="rect">
              <a:avLst/>
            </a:prstGeom>
            <a:ln>
              <a:solidFill>
                <a:schemeClr val="bg2">
                  <a:lumMod val="10000"/>
                </a:schemeClr>
              </a:solidFill>
            </a:ln>
            <a:effectLst>
              <a:glow rad="228600">
                <a:schemeClr val="accent3">
                  <a:satMod val="175000"/>
                  <a:alpha val="40000"/>
                </a:schemeClr>
              </a:glow>
            </a:effectLst>
          </p:spPr>
        </p:pic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5C6DB18C-1FE5-B93F-8CA7-5BD5603FA53B}"/>
                </a:ext>
              </a:extLst>
            </p:cNvPr>
            <p:cNvSpPr/>
            <p:nvPr/>
          </p:nvSpPr>
          <p:spPr>
            <a:xfrm>
              <a:off x="8636267" y="2845585"/>
              <a:ext cx="1611754" cy="1012680"/>
            </a:xfrm>
            <a:prstGeom prst="rect">
              <a:avLst/>
            </a:prstGeom>
            <a:noFill/>
          </p:spPr>
          <p:txBody>
            <a:bodyPr wrap="none" lIns="150781" tIns="75390" rIns="150781" bIns="75390">
              <a:spAutoFit/>
            </a:bodyPr>
            <a:lstStyle/>
            <a:p>
              <a:pPr algn="ctr"/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PROJECT MANAGER</a:t>
              </a:r>
              <a:endParaRPr lang="en-IN" sz="8905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C32F0D5-BEDD-B2D0-1268-2D32D8437438}"/>
                </a:ext>
              </a:extLst>
            </p:cNvPr>
            <p:cNvSpPr txBox="1"/>
            <p:nvPr/>
          </p:nvSpPr>
          <p:spPr>
            <a:xfrm>
              <a:off x="7824837" y="3682154"/>
              <a:ext cx="4083286" cy="429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Delays keep happening because compliance issues are found at the prototype stage — every single time.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EFD27388-468C-31FA-B780-1C182C7B35AF}"/>
                </a:ext>
              </a:extLst>
            </p:cNvPr>
            <p:cNvSpPr/>
            <p:nvPr/>
          </p:nvSpPr>
          <p:spPr>
            <a:xfrm>
              <a:off x="6985251" y="4522683"/>
              <a:ext cx="942928" cy="278955"/>
            </a:xfrm>
            <a:prstGeom prst="rect">
              <a:avLst/>
            </a:prstGeom>
            <a:noFill/>
          </p:spPr>
          <p:txBody>
            <a:bodyPr wrap="none" lIns="150781" tIns="75390" rIns="150781" bIns="75390">
              <a:spAutoFit/>
            </a:bodyPr>
            <a:lstStyle/>
            <a:p>
              <a:r>
                <a:rPr lang="en-US" b="1" dirty="0"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WHAT IF…</a:t>
              </a:r>
              <a:endParaRPr lang="en-IN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B41B7644-1288-311C-9059-29A332498D9C}"/>
                </a:ext>
              </a:extLst>
            </p:cNvPr>
            <p:cNvSpPr txBox="1"/>
            <p:nvPr/>
          </p:nvSpPr>
          <p:spPr>
            <a:xfrm>
              <a:off x="6771085" y="4866917"/>
              <a:ext cx="5350098" cy="8802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✅ Every constraint was checked in 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real time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 inside CAD?</a:t>
              </a:r>
              <a:b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✅ Every deviation was 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highlighted instantly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  <a:b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✅ Every engineer had an 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AI assistant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 that never sleeps?</a:t>
              </a:r>
              <a:b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388FAEF-18B1-3A20-5C17-AB12068EA8B4}"/>
                </a:ext>
              </a:extLst>
            </p:cNvPr>
            <p:cNvSpPr/>
            <p:nvPr/>
          </p:nvSpPr>
          <p:spPr>
            <a:xfrm>
              <a:off x="6812971" y="5675796"/>
              <a:ext cx="5142784" cy="99060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F293EBB-9497-C47B-ADF7-BC5916B0D38D}"/>
                </a:ext>
              </a:extLst>
            </p:cNvPr>
            <p:cNvSpPr/>
            <p:nvPr/>
          </p:nvSpPr>
          <p:spPr>
            <a:xfrm>
              <a:off x="7066386" y="5905906"/>
              <a:ext cx="4393992" cy="560683"/>
            </a:xfrm>
            <a:prstGeom prst="rect">
              <a:avLst/>
            </a:prstGeom>
            <a:noFill/>
          </p:spPr>
          <p:txBody>
            <a:bodyPr wrap="none" lIns="150781" tIns="75390" rIns="150781" bIns="75390">
              <a:spAutoFit/>
            </a:bodyPr>
            <a:lstStyle/>
            <a:p>
              <a:r>
                <a:rPr lang="en-IN" sz="4617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That's what we're building.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76198"/>
            <a:ext cx="2127441" cy="110766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50540" y="304283"/>
            <a:ext cx="1324991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Design</a:t>
            </a:r>
            <a:r>
              <a:rPr sz="4400" spc="-15" dirty="0"/>
              <a:t> </a:t>
            </a:r>
            <a:r>
              <a:rPr sz="4400" spc="-10" dirty="0"/>
              <a:t>Details</a:t>
            </a:r>
            <a:r>
              <a:rPr lang="en-IN" sz="4400" spc="-10" dirty="0"/>
              <a:t> – Architecture &amp; Approach</a:t>
            </a:r>
            <a:endParaRPr sz="4400"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383EAF-2A55-8B93-0DA9-20AEC1E4084A}"/>
              </a:ext>
            </a:extLst>
          </p:cNvPr>
          <p:cNvSpPr/>
          <p:nvPr/>
        </p:nvSpPr>
        <p:spPr>
          <a:xfrm>
            <a:off x="5327650" y="1463675"/>
            <a:ext cx="773801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atinLnBrk="1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Catch design errors before they become expensive – in real-time, inside CAD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DA8C26-20A8-C738-148E-5A6771FE5A82}"/>
              </a:ext>
            </a:extLst>
          </p:cNvPr>
          <p:cNvSpPr/>
          <p:nvPr/>
        </p:nvSpPr>
        <p:spPr>
          <a:xfrm>
            <a:off x="68666" y="1895932"/>
            <a:ext cx="8382000" cy="1295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noFill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65D59C-1FF2-CBF2-6B74-5CA474FC9C26}"/>
              </a:ext>
            </a:extLst>
          </p:cNvPr>
          <p:cNvSpPr/>
          <p:nvPr/>
        </p:nvSpPr>
        <p:spPr>
          <a:xfrm>
            <a:off x="176276" y="1989884"/>
            <a:ext cx="331052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 MARKET GAP (Validated)</a:t>
            </a:r>
          </a:p>
          <a:p>
            <a:pPr algn="ctr"/>
            <a:endParaRPr lang="en-US" b="1" cap="none" spc="0" dirty="0">
              <a:ln w="0"/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1704BB-38CF-3DB6-597E-0FB21B212E6E}"/>
              </a:ext>
            </a:extLst>
          </p:cNvPr>
          <p:cNvSpPr txBox="1"/>
          <p:nvPr/>
        </p:nvSpPr>
        <p:spPr>
          <a:xfrm>
            <a:off x="176276" y="2454275"/>
            <a:ext cx="8046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70% of design defects reach prototyping | 10x higher fix cost | No real-time AI solution exists for mechanical CAD</a:t>
            </a:r>
          </a:p>
          <a:p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C860DF-4615-0697-977D-59316952AD76}"/>
              </a:ext>
            </a:extLst>
          </p:cNvPr>
          <p:cNvSpPr/>
          <p:nvPr/>
        </p:nvSpPr>
        <p:spPr>
          <a:xfrm>
            <a:off x="68666" y="3204624"/>
            <a:ext cx="8382000" cy="7276982"/>
          </a:xfrm>
          <a:prstGeom prst="rect">
            <a:avLst/>
          </a:prstGeom>
          <a:gradFill flip="none" rotWithShape="1">
            <a:gsLst>
              <a:gs pos="0">
                <a:srgbClr val="2A5488">
                  <a:tint val="66000"/>
                  <a:satMod val="160000"/>
                </a:srgbClr>
              </a:gs>
              <a:gs pos="50000">
                <a:srgbClr val="2A5488">
                  <a:tint val="44500"/>
                  <a:satMod val="160000"/>
                </a:srgbClr>
              </a:gs>
              <a:gs pos="100000">
                <a:srgbClr val="2A5488">
                  <a:tint val="23500"/>
                  <a:satMod val="160000"/>
                </a:srgbClr>
              </a:gs>
            </a:gsLst>
            <a:lin ang="189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noFill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BB5B60-6D20-7205-6B25-DEAA384770E3}"/>
              </a:ext>
            </a:extLst>
          </p:cNvPr>
          <p:cNvSpPr/>
          <p:nvPr/>
        </p:nvSpPr>
        <p:spPr>
          <a:xfrm>
            <a:off x="0" y="3373140"/>
            <a:ext cx="5791970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atinLnBrk="1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🏗️ SYSTEM ARCHITECTURE (What we WILL build)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1878920-7EBB-3C52-313E-32B3DC518ADF}"/>
              </a:ext>
            </a:extLst>
          </p:cNvPr>
          <p:cNvSpPr/>
          <p:nvPr/>
        </p:nvSpPr>
        <p:spPr>
          <a:xfrm>
            <a:off x="305185" y="3786587"/>
            <a:ext cx="5181600" cy="13346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perspectiveBelow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85746A-E873-BAE7-2EC8-643D2DF7472C}"/>
              </a:ext>
            </a:extLst>
          </p:cNvPr>
          <p:cNvSpPr txBox="1"/>
          <p:nvPr/>
        </p:nvSpPr>
        <p:spPr>
          <a:xfrm>
            <a:off x="1517650" y="3924280"/>
            <a:ext cx="30480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IN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LAYER 1: CAD PLUGIN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C70D0D-581F-5E3C-F672-D469D9A642B6}"/>
              </a:ext>
            </a:extLst>
          </p:cNvPr>
          <p:cNvSpPr txBox="1"/>
          <p:nvPr/>
        </p:nvSpPr>
        <p:spPr>
          <a:xfrm>
            <a:off x="1517650" y="4263789"/>
            <a:ext cx="3305121" cy="752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SolidWorks API (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geometry extraction     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Violation highlighting on screen 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0BFF38C-4DD8-DF91-691C-F3AFE0DCA5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15" y="4010502"/>
            <a:ext cx="771525" cy="771525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154DE49-12A1-8925-C4BB-8BB0CC0D4EA4}"/>
              </a:ext>
            </a:extLst>
          </p:cNvPr>
          <p:cNvSpPr/>
          <p:nvPr/>
        </p:nvSpPr>
        <p:spPr>
          <a:xfrm>
            <a:off x="287061" y="5493761"/>
            <a:ext cx="5181600" cy="13346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perspectiveBelow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E01BE7D-1629-8DE3-0476-F9E0145C0C49}"/>
              </a:ext>
            </a:extLst>
          </p:cNvPr>
          <p:cNvSpPr/>
          <p:nvPr/>
        </p:nvSpPr>
        <p:spPr>
          <a:xfrm>
            <a:off x="287061" y="7216579"/>
            <a:ext cx="5181600" cy="13346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perspectiveBelow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B1CC059-E280-786D-8473-7552B1F77308}"/>
              </a:ext>
            </a:extLst>
          </p:cNvPr>
          <p:cNvSpPr/>
          <p:nvPr/>
        </p:nvSpPr>
        <p:spPr>
          <a:xfrm>
            <a:off x="315582" y="8900471"/>
            <a:ext cx="5181600" cy="13346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perspectiveBelow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874512CD-E2D1-96B6-2463-C67D5BF27BA5}"/>
              </a:ext>
            </a:extLst>
          </p:cNvPr>
          <p:cNvSpPr/>
          <p:nvPr/>
        </p:nvSpPr>
        <p:spPr>
          <a:xfrm>
            <a:off x="2611161" y="5068917"/>
            <a:ext cx="506689" cy="440488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8F858A09-A70B-42AA-B787-F097EE793833}"/>
              </a:ext>
            </a:extLst>
          </p:cNvPr>
          <p:cNvSpPr/>
          <p:nvPr/>
        </p:nvSpPr>
        <p:spPr>
          <a:xfrm>
            <a:off x="2611160" y="6778557"/>
            <a:ext cx="506689" cy="440488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0E5F556B-1C5B-C5EC-ACEA-BB94E34F333C}"/>
              </a:ext>
            </a:extLst>
          </p:cNvPr>
          <p:cNvSpPr/>
          <p:nvPr/>
        </p:nvSpPr>
        <p:spPr>
          <a:xfrm>
            <a:off x="2624516" y="8488197"/>
            <a:ext cx="506689" cy="440488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8C8642-E73F-2EBD-A884-0D08CC2E7111}"/>
              </a:ext>
            </a:extLst>
          </p:cNvPr>
          <p:cNvSpPr txBox="1"/>
          <p:nvPr/>
        </p:nvSpPr>
        <p:spPr>
          <a:xfrm>
            <a:off x="1517650" y="5643903"/>
            <a:ext cx="2924121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IN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LAYER 2: BACKEND API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FF4703-8933-F480-1305-C13ECAFD01E6}"/>
              </a:ext>
            </a:extLst>
          </p:cNvPr>
          <p:cNvSpPr txBox="1"/>
          <p:nvPr/>
        </p:nvSpPr>
        <p:spPr>
          <a:xfrm>
            <a:off x="1517650" y="5907925"/>
            <a:ext cx="3603462" cy="752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IN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Spring Boot (Java)                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REST endpoints for validation  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IN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JWT authentication 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BECCC84-95D4-B310-2D22-9523807E3E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191" y="5614813"/>
            <a:ext cx="998261" cy="998261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23352061-BB21-93A0-32A0-EF1664A5BDCF}"/>
              </a:ext>
            </a:extLst>
          </p:cNvPr>
          <p:cNvSpPr txBox="1"/>
          <p:nvPr/>
        </p:nvSpPr>
        <p:spPr>
          <a:xfrm>
            <a:off x="1517650" y="7280444"/>
            <a:ext cx="2924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3: AI ENGINE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C2F3F0-DDF5-B0E1-D55F-D95F3474F391}"/>
              </a:ext>
            </a:extLst>
          </p:cNvPr>
          <p:cNvSpPr txBox="1"/>
          <p:nvPr/>
        </p:nvSpPr>
        <p:spPr>
          <a:xfrm>
            <a:off x="1406620" y="7568249"/>
            <a:ext cx="36034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 Fast API (hybrid)             </a:t>
            </a:r>
          </a:p>
          <a:p>
            <a:pPr latinLnBrk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Rule-based + ML classification </a:t>
            </a:r>
          </a:p>
          <a:p>
            <a:pPr latinLnBrk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Trained on CAD feature datasets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A076AB-EEA2-64AC-AC60-984EBEE347FB}"/>
              </a:ext>
            </a:extLst>
          </p:cNvPr>
          <p:cNvSpPr txBox="1"/>
          <p:nvPr/>
        </p:nvSpPr>
        <p:spPr>
          <a:xfrm>
            <a:off x="1517649" y="8962438"/>
            <a:ext cx="3492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4: DATA &amp; REPORTS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CC3CD1-C5B0-BE65-E695-15D568B1685D}"/>
              </a:ext>
            </a:extLst>
          </p:cNvPr>
          <p:cNvSpPr txBox="1"/>
          <p:nvPr/>
        </p:nvSpPr>
        <p:spPr>
          <a:xfrm>
            <a:off x="1368479" y="9257168"/>
            <a:ext cx="28923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PostgreSQL (design rules DB)       </a:t>
            </a:r>
          </a:p>
          <a:p>
            <a:pPr latinLnBrk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PDF report generator               </a:t>
            </a:r>
          </a:p>
          <a:p>
            <a:pPr latinLnBrk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Audit trail storage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2245798-0475-D59E-60B0-3D96E193EB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91" y="7410735"/>
            <a:ext cx="800100" cy="8001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EECCD5E-4C3C-B28C-12FA-9CC758D589E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0" y="8975843"/>
            <a:ext cx="1282861" cy="112395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7A55D242-88D6-7710-B495-C705FF11844A}"/>
              </a:ext>
            </a:extLst>
          </p:cNvPr>
          <p:cNvSpPr/>
          <p:nvPr/>
        </p:nvSpPr>
        <p:spPr>
          <a:xfrm>
            <a:off x="8680450" y="1897784"/>
            <a:ext cx="11125200" cy="147535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noFill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235CA59-828E-BA0B-CC47-8426F32C6EB5}"/>
              </a:ext>
            </a:extLst>
          </p:cNvPr>
          <p:cNvSpPr/>
          <p:nvPr/>
        </p:nvSpPr>
        <p:spPr>
          <a:xfrm>
            <a:off x="8756650" y="1913722"/>
            <a:ext cx="2380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atinLnBrk="1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🔄 PROCESS FLOW</a:t>
            </a:r>
          </a:p>
          <a:p>
            <a:b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5EF7466-F04C-7ADD-E987-BF4BBA821A48}"/>
              </a:ext>
            </a:extLst>
          </p:cNvPr>
          <p:cNvSpPr txBox="1"/>
          <p:nvPr/>
        </p:nvSpPr>
        <p:spPr>
          <a:xfrm>
            <a:off x="8990091" y="2252524"/>
            <a:ext cx="1219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Engineer designs in CAD</a:t>
            </a:r>
          </a:p>
          <a:p>
            <a:pPr algn="l"/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11AEDC-EAD6-9E34-B016-2D9182D80BE4}"/>
              </a:ext>
            </a:extLst>
          </p:cNvPr>
          <p:cNvSpPr txBox="1"/>
          <p:nvPr/>
        </p:nvSpPr>
        <p:spPr>
          <a:xfrm>
            <a:off x="10820358" y="2286888"/>
            <a:ext cx="1497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</a:p>
          <a:p>
            <a:pPr algn="just" latinLnBrk="1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 captures geometry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3F301BE-298E-EDA6-72AA-A459901EB623}"/>
              </a:ext>
            </a:extLst>
          </p:cNvPr>
          <p:cNvSpPr txBox="1"/>
          <p:nvPr/>
        </p:nvSpPr>
        <p:spPr>
          <a:xfrm>
            <a:off x="13011720" y="2228056"/>
            <a:ext cx="17617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</a:p>
          <a:p>
            <a:pPr latinLnBrk="1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checks against ISO/company rules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CABB23F-C722-914E-BF75-2479B8FC1645}"/>
              </a:ext>
            </a:extLst>
          </p:cNvPr>
          <p:cNvSpPr txBox="1"/>
          <p:nvPr/>
        </p:nvSpPr>
        <p:spPr>
          <a:xfrm>
            <a:off x="15538450" y="2205671"/>
            <a:ext cx="17617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</a:t>
            </a:r>
          </a:p>
          <a:p>
            <a:pPr latinLnBrk="1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Violations highlighted instantly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605DBE2-8274-0F03-A792-5C7FFB920846}"/>
              </a:ext>
            </a:extLst>
          </p:cNvPr>
          <p:cNvSpPr txBox="1"/>
          <p:nvPr/>
        </p:nvSpPr>
        <p:spPr>
          <a:xfrm>
            <a:off x="18053050" y="2228056"/>
            <a:ext cx="16093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</a:p>
          <a:p>
            <a:pPr latinLnBrk="1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Fix suggestion + report generated</a:t>
            </a:r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F36D8EE6-D8E4-7F67-11FD-4AB4AE284647}"/>
              </a:ext>
            </a:extLst>
          </p:cNvPr>
          <p:cNvSpPr/>
          <p:nvPr/>
        </p:nvSpPr>
        <p:spPr>
          <a:xfrm>
            <a:off x="10019666" y="2419213"/>
            <a:ext cx="685800" cy="633442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spc="5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F27B4529-AA90-2BEE-6C06-17E6B9B3ACD3}"/>
              </a:ext>
            </a:extLst>
          </p:cNvPr>
          <p:cNvSpPr/>
          <p:nvPr/>
        </p:nvSpPr>
        <p:spPr>
          <a:xfrm>
            <a:off x="14887738" y="2385665"/>
            <a:ext cx="685800" cy="633442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spc="5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752F9C01-CF24-6646-C8A5-C2B713C7CFE3}"/>
              </a:ext>
            </a:extLst>
          </p:cNvPr>
          <p:cNvSpPr/>
          <p:nvPr/>
        </p:nvSpPr>
        <p:spPr>
          <a:xfrm>
            <a:off x="12313791" y="2405948"/>
            <a:ext cx="685800" cy="633442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spc="5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99C7E436-E27E-333A-581B-76A47385B49D}"/>
              </a:ext>
            </a:extLst>
          </p:cNvPr>
          <p:cNvSpPr/>
          <p:nvPr/>
        </p:nvSpPr>
        <p:spPr>
          <a:xfrm>
            <a:off x="17314481" y="2375387"/>
            <a:ext cx="685800" cy="633442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spc="5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14A594C-7ECD-2A8B-2BC6-2BEC0C51B9F9}"/>
              </a:ext>
            </a:extLst>
          </p:cNvPr>
          <p:cNvSpPr/>
          <p:nvPr/>
        </p:nvSpPr>
        <p:spPr>
          <a:xfrm>
            <a:off x="8673715" y="3583931"/>
            <a:ext cx="11125200" cy="18226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noFill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50B0243-5323-0134-473C-9538DD5D07CB}"/>
              </a:ext>
            </a:extLst>
          </p:cNvPr>
          <p:cNvSpPr/>
          <p:nvPr/>
        </p:nvSpPr>
        <p:spPr>
          <a:xfrm>
            <a:off x="8741996" y="3758381"/>
            <a:ext cx="307327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atinLnBrk="1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⚙️ WORKING PRINCIPLE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BF47194-8FA7-5033-FF53-2A2AC08218EB}"/>
              </a:ext>
            </a:extLst>
          </p:cNvPr>
          <p:cNvSpPr txBox="1"/>
          <p:nvPr/>
        </p:nvSpPr>
        <p:spPr>
          <a:xfrm>
            <a:off x="8756650" y="4250362"/>
            <a:ext cx="10789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 plugin extracts geometry data → API sends to AI engine → AI compares against 50+ design rules → Violation + fix suggestion returned in &lt;1 second target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D45BC4C-C6DB-1FCA-25CE-60B2758CE536}"/>
              </a:ext>
            </a:extLst>
          </p:cNvPr>
          <p:cNvSpPr/>
          <p:nvPr/>
        </p:nvSpPr>
        <p:spPr>
          <a:xfrm>
            <a:off x="13557250" y="5641004"/>
            <a:ext cx="426911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atinLnBrk="1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TARGET PERFORMANCE (Estimates)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DD89931-624E-7BCA-5F8E-03F3D985863F}"/>
              </a:ext>
            </a:extLst>
          </p:cNvPr>
          <p:cNvSpPr/>
          <p:nvPr/>
        </p:nvSpPr>
        <p:spPr>
          <a:xfrm>
            <a:off x="14846064" y="8487282"/>
            <a:ext cx="169148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atinLnBrk="1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D0AC62-5AD5-8F4F-1892-79BDECA72B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338" y="5654675"/>
            <a:ext cx="6289815" cy="47244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D87256-B773-2416-7FEC-29187BC1FD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3832" y="5816093"/>
            <a:ext cx="4948535" cy="42837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49AF38E-3025-EF2B-EAC3-9CDFCC555508}"/>
              </a:ext>
            </a:extLst>
          </p:cNvPr>
          <p:cNvCxnSpPr/>
          <p:nvPr/>
        </p:nvCxnSpPr>
        <p:spPr>
          <a:xfrm>
            <a:off x="12338050" y="7957943"/>
            <a:ext cx="20574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9E4DEEB-3636-B28D-879F-0F70E9D3558B}"/>
              </a:ext>
            </a:extLst>
          </p:cNvPr>
          <p:cNvSpPr/>
          <p:nvPr/>
        </p:nvSpPr>
        <p:spPr>
          <a:xfrm>
            <a:off x="11380045" y="7306639"/>
            <a:ext cx="3850593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D7FAD16-95EE-2FCA-802C-451ED2941399}"/>
              </a:ext>
            </a:extLst>
          </p:cNvPr>
          <p:cNvSpPr/>
          <p:nvPr/>
        </p:nvSpPr>
        <p:spPr>
          <a:xfrm>
            <a:off x="9882036" y="1580672"/>
            <a:ext cx="10117725" cy="864600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noFill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4A2A76-AD78-7960-EB0B-DEEC8F25C17F}"/>
              </a:ext>
            </a:extLst>
          </p:cNvPr>
          <p:cNvSpPr/>
          <p:nvPr/>
        </p:nvSpPr>
        <p:spPr>
          <a:xfrm>
            <a:off x="104339" y="1515952"/>
            <a:ext cx="9566711" cy="87107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noFill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76198"/>
            <a:ext cx="2127441" cy="110766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dirty="0"/>
              <a:t>Major</a:t>
            </a:r>
            <a:r>
              <a:rPr spc="-10" dirty="0"/>
              <a:t> </a:t>
            </a:r>
            <a:r>
              <a:rPr dirty="0"/>
              <a:t>Risk</a:t>
            </a:r>
            <a:r>
              <a:rPr spc="-10" dirty="0"/>
              <a:t> </a:t>
            </a:r>
            <a:r>
              <a:rPr dirty="0"/>
              <a:t>And</a:t>
            </a:r>
            <a:r>
              <a:rPr spc="-10" dirty="0"/>
              <a:t> Mitigation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9160894" y="10664946"/>
            <a:ext cx="275590" cy="25199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E26B6E-9F64-3C53-C50A-CF2BC5AF3E41}"/>
              </a:ext>
            </a:extLst>
          </p:cNvPr>
          <p:cNvSpPr/>
          <p:nvPr/>
        </p:nvSpPr>
        <p:spPr>
          <a:xfrm>
            <a:off x="853780" y="3668148"/>
            <a:ext cx="6437896" cy="1235409"/>
          </a:xfrm>
          <a:prstGeom prst="roundRect">
            <a:avLst>
              <a:gd name="adj" fmla="val 31206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SolidWorks API may not expose thread data. Fillet radius works but complex features could fail.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example: During research, we found surface loft data requires 3 extra API calls – adds 200ms latency.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39146E-BDEB-C9E2-9C1D-463BB1C23EFB}"/>
              </a:ext>
            </a:extLst>
          </p:cNvPr>
          <p:cNvSpPr/>
          <p:nvPr/>
        </p:nvSpPr>
        <p:spPr>
          <a:xfrm>
            <a:off x="853780" y="8372707"/>
            <a:ext cx="6629401" cy="1235409"/>
          </a:xfrm>
          <a:prstGeom prst="roundRect">
            <a:avLst>
              <a:gd name="adj" fmla="val 27241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model needs 5000+ CAD models with violations to learn from.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example: We generate synthetic data – take good CAD files, intentionally break dimensions, tolerances, and constraints.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AB85D4-8E71-0C55-480A-D68AEE62900B}"/>
              </a:ext>
            </a:extLst>
          </p:cNvPr>
          <p:cNvSpPr/>
          <p:nvPr/>
        </p:nvSpPr>
        <p:spPr>
          <a:xfrm>
            <a:off x="13176250" y="5985968"/>
            <a:ext cx="6477000" cy="1232979"/>
          </a:xfrm>
          <a:prstGeom prst="roundRect">
            <a:avLst>
              <a:gd name="adj" fmla="val 28911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caching for frequent checks.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 processing with loading spinner.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GB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(smaller model) → &lt;500ms target.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Status: ✅ Architecture designed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F0355C-7D5F-AE1D-E97C-9CB08D57AABB}"/>
              </a:ext>
            </a:extLst>
          </p:cNvPr>
          <p:cNvSpPr/>
          <p:nvPr/>
        </p:nvSpPr>
        <p:spPr>
          <a:xfrm>
            <a:off x="13200847" y="3299131"/>
            <a:ext cx="6376203" cy="1618409"/>
          </a:xfrm>
          <a:prstGeom prst="roundRect">
            <a:avLst>
              <a:gd name="adj" fmla="val 27381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Pre-studied SolidWorks API docs – data IS accessible.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Fallback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Batch validation mode (user clicks 'Check').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Alternative: Fusion 360 API ready.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Status: ✅ Research complete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0346D5-5960-86FA-390F-8FD9737506A6}"/>
              </a:ext>
            </a:extLst>
          </p:cNvPr>
          <p:cNvSpPr/>
          <p:nvPr/>
        </p:nvSpPr>
        <p:spPr>
          <a:xfrm>
            <a:off x="853780" y="6061812"/>
            <a:ext cx="6437896" cy="1202333"/>
          </a:xfrm>
          <a:prstGeom prst="roundRect">
            <a:avLst>
              <a:gd name="adj" fmla="val 34322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 waits 2 seconds → stops using plugin → product fails.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example: GPT-4 takes 2-3 seconds. Our target is &lt;500ms using </a:t>
            </a:r>
            <a:r>
              <a:rPr lang="en-GB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(40% faster).</a:t>
            </a:r>
            <a:b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690F634-0B01-E935-2618-4D082596A857}"/>
              </a:ext>
            </a:extLst>
          </p:cNvPr>
          <p:cNvSpPr/>
          <p:nvPr/>
        </p:nvSpPr>
        <p:spPr>
          <a:xfrm>
            <a:off x="13176251" y="8218778"/>
            <a:ext cx="6477000" cy="1618410"/>
          </a:xfrm>
          <a:prstGeom prst="roundRect">
            <a:avLst>
              <a:gd name="adj" fmla="val 25851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10,000 synthetic CAD models with intentional violations.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(rotate, scale, mirror).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Rule-first MVP (no ML needed for Phase 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Status: ✅ Plan ready</a:t>
            </a:r>
          </a:p>
        </p:txBody>
      </p:sp>
      <p:pic>
        <p:nvPicPr>
          <p:cNvPr id="31" name="Graphic 30" descr="Warning with solid fill">
            <a:extLst>
              <a:ext uri="{FF2B5EF4-FFF2-40B4-BE49-F238E27FC236}">
                <a16:creationId xmlns:a16="http://schemas.microsoft.com/office/drawing/2014/main" id="{48E3AD4A-F8E1-CE0B-FEE5-CFFB55CB6E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8583" y="3032864"/>
            <a:ext cx="501285" cy="501285"/>
          </a:xfrm>
          <a:prstGeom prst="rect">
            <a:avLst/>
          </a:prstGeom>
        </p:spPr>
      </p:pic>
      <p:pic>
        <p:nvPicPr>
          <p:cNvPr id="32" name="Graphic 31" descr="Warning with solid fill">
            <a:extLst>
              <a:ext uri="{FF2B5EF4-FFF2-40B4-BE49-F238E27FC236}">
                <a16:creationId xmlns:a16="http://schemas.microsoft.com/office/drawing/2014/main" id="{584B2B10-BE51-7845-382E-DAFC55C704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042" y="5325324"/>
            <a:ext cx="560365" cy="560365"/>
          </a:xfrm>
          <a:prstGeom prst="rect">
            <a:avLst/>
          </a:prstGeom>
        </p:spPr>
      </p:pic>
      <p:pic>
        <p:nvPicPr>
          <p:cNvPr id="33" name="Graphic 32" descr="Warning with solid fill">
            <a:extLst>
              <a:ext uri="{FF2B5EF4-FFF2-40B4-BE49-F238E27FC236}">
                <a16:creationId xmlns:a16="http://schemas.microsoft.com/office/drawing/2014/main" id="{9364F01E-A482-AF5A-2A0C-192B44EE4D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2692" y="7742960"/>
            <a:ext cx="514067" cy="51406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4CE5595-27AE-2CC5-C93E-08F436B3D232}"/>
              </a:ext>
            </a:extLst>
          </p:cNvPr>
          <p:cNvSpPr txBox="1"/>
          <p:nvPr/>
        </p:nvSpPr>
        <p:spPr>
          <a:xfrm>
            <a:off x="1510208" y="3110310"/>
            <a:ext cx="3291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1: CAD API Limitations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3ABFB7-1B47-ED80-DBDE-543967076953}"/>
              </a:ext>
            </a:extLst>
          </p:cNvPr>
          <p:cNvSpPr txBox="1"/>
          <p:nvPr/>
        </p:nvSpPr>
        <p:spPr>
          <a:xfrm flipH="1">
            <a:off x="1510208" y="5399932"/>
            <a:ext cx="3625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2: AI Latency &gt;1 Second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D001D7-7DF0-AFA0-06E5-A518FE6AFB27}"/>
              </a:ext>
            </a:extLst>
          </p:cNvPr>
          <p:cNvSpPr txBox="1"/>
          <p:nvPr/>
        </p:nvSpPr>
        <p:spPr>
          <a:xfrm>
            <a:off x="1502367" y="7885674"/>
            <a:ext cx="409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3: No Training Data Available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Graphic 40" descr="Tools with solid fill">
            <a:extLst>
              <a:ext uri="{FF2B5EF4-FFF2-40B4-BE49-F238E27FC236}">
                <a16:creationId xmlns:a16="http://schemas.microsoft.com/office/drawing/2014/main" id="{F2BECCAF-6244-EFD1-C720-D41DF4436B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264104" y="2809520"/>
            <a:ext cx="450911" cy="450911"/>
          </a:xfrm>
          <a:prstGeom prst="rect">
            <a:avLst/>
          </a:prstGeom>
        </p:spPr>
      </p:pic>
      <p:pic>
        <p:nvPicPr>
          <p:cNvPr id="44" name="Graphic 43" descr="Tools with solid fill">
            <a:extLst>
              <a:ext uri="{FF2B5EF4-FFF2-40B4-BE49-F238E27FC236}">
                <a16:creationId xmlns:a16="http://schemas.microsoft.com/office/drawing/2014/main" id="{CF062FD2-7FAC-322A-ACDF-828F35C3E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331462" y="7711938"/>
            <a:ext cx="450911" cy="450911"/>
          </a:xfrm>
          <a:prstGeom prst="rect">
            <a:avLst/>
          </a:prstGeom>
        </p:spPr>
      </p:pic>
      <p:pic>
        <p:nvPicPr>
          <p:cNvPr id="45" name="Graphic 44" descr="Tools with solid fill">
            <a:extLst>
              <a:ext uri="{FF2B5EF4-FFF2-40B4-BE49-F238E27FC236}">
                <a16:creationId xmlns:a16="http://schemas.microsoft.com/office/drawing/2014/main" id="{8897D91A-40DC-B9C1-C811-15BB356A3E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331463" y="5450829"/>
            <a:ext cx="450911" cy="45091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0C3F067-0EA7-5EA2-B1EE-788DDED7F05D}"/>
              </a:ext>
            </a:extLst>
          </p:cNvPr>
          <p:cNvSpPr txBox="1"/>
          <p:nvPr/>
        </p:nvSpPr>
        <p:spPr>
          <a:xfrm>
            <a:off x="13261161" y="2882555"/>
            <a:ext cx="466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 1: CAD API Fallback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31DB67-FC08-7C35-7368-B461210D6239}"/>
              </a:ext>
            </a:extLst>
          </p:cNvPr>
          <p:cNvSpPr txBox="1"/>
          <p:nvPr/>
        </p:nvSpPr>
        <p:spPr>
          <a:xfrm>
            <a:off x="13719773" y="5532408"/>
            <a:ext cx="448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 2: Optimized AI Pipeline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0486EA3-471D-F6E0-DAB4-9DCD563AB0E5}"/>
              </a:ext>
            </a:extLst>
          </p:cNvPr>
          <p:cNvSpPr txBox="1"/>
          <p:nvPr/>
        </p:nvSpPr>
        <p:spPr>
          <a:xfrm>
            <a:off x="13715015" y="7793517"/>
            <a:ext cx="479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 3: Synthetic Data Generation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660C2C-6BE5-52A8-8EC4-06AF53DCA1DF}"/>
              </a:ext>
            </a:extLst>
          </p:cNvPr>
          <p:cNvSpPr/>
          <p:nvPr/>
        </p:nvSpPr>
        <p:spPr>
          <a:xfrm>
            <a:off x="810839" y="1646742"/>
            <a:ext cx="61093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RISK </a:t>
            </a:r>
            <a:r>
              <a:rPr lang="en-US" sz="54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(RED ZONE)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D948A5-0543-2325-40B8-C99F95D9E412}"/>
              </a:ext>
            </a:extLst>
          </p:cNvPr>
          <p:cNvSpPr/>
          <p:nvPr/>
        </p:nvSpPr>
        <p:spPr>
          <a:xfrm>
            <a:off x="12389703" y="1598905"/>
            <a:ext cx="760657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  <a:r>
              <a:rPr lang="en-US" sz="4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cap="none" spc="0" dirty="0">
                <a:ln w="0"/>
                <a:solidFill>
                  <a:schemeClr val="accent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(GREEN ZONE)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53F197D-FB65-5475-2814-21DBFE788C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7986" y="2660916"/>
            <a:ext cx="4368100" cy="341471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0FAB2ED-E74D-8244-B2B7-33E5CE7E8A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251" y="6472531"/>
            <a:ext cx="4397472" cy="366204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E3072D3-4F1B-5210-55DA-6B175134C5B9}"/>
              </a:ext>
            </a:extLst>
          </p:cNvPr>
          <p:cNvCxnSpPr/>
          <p:nvPr/>
        </p:nvCxnSpPr>
        <p:spPr>
          <a:xfrm>
            <a:off x="5175250" y="2660916"/>
            <a:ext cx="2209800" cy="70775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BD71A6A-F985-EDAA-C0DC-C2FEC8B8A356}"/>
              </a:ext>
            </a:extLst>
          </p:cNvPr>
          <p:cNvCxnSpPr>
            <a:cxnSpLocks/>
          </p:cNvCxnSpPr>
          <p:nvPr/>
        </p:nvCxnSpPr>
        <p:spPr>
          <a:xfrm flipH="1">
            <a:off x="11468784" y="6797675"/>
            <a:ext cx="119460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5021D1F-1289-7E0C-A7D6-5C46FB07CD11}"/>
              </a:ext>
            </a:extLst>
          </p:cNvPr>
          <p:cNvCxnSpPr>
            <a:cxnSpLocks/>
          </p:cNvCxnSpPr>
          <p:nvPr/>
        </p:nvCxnSpPr>
        <p:spPr>
          <a:xfrm flipV="1">
            <a:off x="12642850" y="2684263"/>
            <a:ext cx="20537" cy="41134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EBEC09D-423C-DEC3-141A-E6B21A182073}"/>
              </a:ext>
            </a:extLst>
          </p:cNvPr>
          <p:cNvCxnSpPr>
            <a:cxnSpLocks/>
          </p:cNvCxnSpPr>
          <p:nvPr/>
        </p:nvCxnSpPr>
        <p:spPr>
          <a:xfrm>
            <a:off x="12642850" y="2681354"/>
            <a:ext cx="15796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EE04172C-982C-ED3A-8248-8DCDD3DE7EFF}"/>
              </a:ext>
            </a:extLst>
          </p:cNvPr>
          <p:cNvSpPr/>
          <p:nvPr/>
        </p:nvSpPr>
        <p:spPr>
          <a:xfrm>
            <a:off x="12871450" y="1539875"/>
            <a:ext cx="7086600" cy="89916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189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8DD796-3870-EAC0-1C12-784BCDD30E9A}"/>
              </a:ext>
            </a:extLst>
          </p:cNvPr>
          <p:cNvSpPr/>
          <p:nvPr/>
        </p:nvSpPr>
        <p:spPr>
          <a:xfrm>
            <a:off x="146050" y="1539875"/>
            <a:ext cx="12725400" cy="89916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GB" sz="18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76198"/>
            <a:ext cx="2127441" cy="110766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dirty="0"/>
              <a:t>Business</a:t>
            </a:r>
            <a:r>
              <a:rPr spc="-110" dirty="0"/>
              <a:t> </a:t>
            </a:r>
            <a:r>
              <a:rPr spc="-10" dirty="0"/>
              <a:t>Potential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2651018-0B36-17E2-3DD4-945B2FE7B6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6930205"/>
              </p:ext>
            </p:extLst>
          </p:nvPr>
        </p:nvGraphicFramePr>
        <p:xfrm>
          <a:off x="13745646" y="1865207"/>
          <a:ext cx="570864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A02EAAB-1164-669A-6AA0-89EB92E52A46}"/>
              </a:ext>
            </a:extLst>
          </p:cNvPr>
          <p:cNvSpPr txBox="1"/>
          <p:nvPr/>
        </p:nvSpPr>
        <p:spPr>
          <a:xfrm>
            <a:off x="755650" y="2165451"/>
            <a:ext cx="2022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SIZE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F7ABC8-8B36-A5D7-0B71-275704E3F09B}"/>
              </a:ext>
            </a:extLst>
          </p:cNvPr>
          <p:cNvSpPr txBox="1"/>
          <p:nvPr/>
        </p:nvSpPr>
        <p:spPr>
          <a:xfrm>
            <a:off x="603250" y="2606675"/>
            <a:ext cx="36512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Global CAD market: $10.4B by 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5M+ mechanical engineers worldwide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50,000 target customers (India)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2F0C34-821A-A1FB-12F3-F790F7F30A8F}"/>
              </a:ext>
            </a:extLst>
          </p:cNvPr>
          <p:cNvSpPr txBox="1"/>
          <p:nvPr/>
        </p:nvSpPr>
        <p:spPr>
          <a:xfrm>
            <a:off x="688634" y="3442396"/>
            <a:ext cx="2590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MODEL</a:t>
            </a:r>
            <a:endParaRPr lang="en-IN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699FAE-AE49-851B-7384-4C19B75EFEF9}"/>
              </a:ext>
            </a:extLst>
          </p:cNvPr>
          <p:cNvSpPr txBox="1"/>
          <p:nvPr/>
        </p:nvSpPr>
        <p:spPr>
          <a:xfrm>
            <a:off x="613518" y="3829461"/>
            <a:ext cx="36512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SaaS: $50/user/month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Enterprise: $20k/company/year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Target Year 3: $30M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E6677B-595B-89C6-6B0E-35C0F1766D5B}"/>
              </a:ext>
            </a:extLst>
          </p:cNvPr>
          <p:cNvSpPr txBox="1"/>
          <p:nvPr/>
        </p:nvSpPr>
        <p:spPr>
          <a:xfrm>
            <a:off x="480623" y="4921895"/>
            <a:ext cx="2590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METRICS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2B743E-562F-4E74-AA79-38CD66418EB5}"/>
              </a:ext>
            </a:extLst>
          </p:cNvPr>
          <p:cNvSpPr txBox="1"/>
          <p:nvPr/>
        </p:nvSpPr>
        <p:spPr>
          <a:xfrm>
            <a:off x="598650" y="5289399"/>
            <a:ext cx="30416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Break-even: Month 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ROI for customer: 50x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LTV/CAC ratio: 9x (healthy &gt;3x)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73BA2A-0A25-7633-6E40-30166C061625}"/>
              </a:ext>
            </a:extLst>
          </p:cNvPr>
          <p:cNvSpPr txBox="1"/>
          <p:nvPr/>
        </p:nvSpPr>
        <p:spPr>
          <a:xfrm>
            <a:off x="841034" y="6573745"/>
            <a:ext cx="304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VALIDATION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B957FC-6FFF-4F7D-3C73-CAC50263E651}"/>
              </a:ext>
            </a:extLst>
          </p:cNvPr>
          <p:cNvSpPr txBox="1"/>
          <p:nvPr/>
        </p:nvSpPr>
        <p:spPr>
          <a:xfrm>
            <a:off x="515161" y="6995558"/>
            <a:ext cx="48704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89% design teams face compliance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70% defects reach prototyping → 10x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real-time AI competitors → BLUE OCEAN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9" name="Chart 48">
            <a:extLst>
              <a:ext uri="{FF2B5EF4-FFF2-40B4-BE49-F238E27FC236}">
                <a16:creationId xmlns:a16="http://schemas.microsoft.com/office/drawing/2014/main" id="{31CB17D4-641E-2F36-EE74-43A559E744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2382932"/>
              </p:ext>
            </p:extLst>
          </p:nvPr>
        </p:nvGraphicFramePr>
        <p:xfrm>
          <a:off x="14059491" y="5222693"/>
          <a:ext cx="5239198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B6911C10-E24B-046A-B057-616C310007E0}"/>
              </a:ext>
            </a:extLst>
          </p:cNvPr>
          <p:cNvSpPr txBox="1"/>
          <p:nvPr/>
        </p:nvSpPr>
        <p:spPr>
          <a:xfrm>
            <a:off x="14820126" y="4785503"/>
            <a:ext cx="3717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PROJECTED REVENUE</a:t>
            </a:r>
          </a:p>
          <a:p>
            <a:pPr algn="ctr"/>
            <a:endParaRPr lang="en-IN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F2575B9A-143D-6D75-0488-AD4FA6F907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8"/>
          <a:stretch>
            <a:fillRect/>
          </a:stretch>
        </p:blipFill>
        <p:spPr>
          <a:xfrm>
            <a:off x="6447114" y="4438108"/>
            <a:ext cx="6095516" cy="3266155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C2BF271D-7424-CD4C-2E60-8338F5D19350}"/>
              </a:ext>
            </a:extLst>
          </p:cNvPr>
          <p:cNvSpPr txBox="1"/>
          <p:nvPr/>
        </p:nvSpPr>
        <p:spPr>
          <a:xfrm>
            <a:off x="6489734" y="2143851"/>
            <a:ext cx="63243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 &amp; Resource Optimization</a:t>
            </a:r>
          </a:p>
          <a:p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80% less</a:t>
            </a:r>
            <a:r>
              <a:rPr lang="en-US" dirty="0">
                <a:solidFill>
                  <a:schemeClr val="bg1"/>
                </a:solidFill>
              </a:rPr>
              <a:t> review time per project (200 </a:t>
            </a:r>
            <a:r>
              <a:rPr lang="en-US" dirty="0" err="1">
                <a:solidFill>
                  <a:schemeClr val="bg1"/>
                </a:solidFill>
              </a:rPr>
              <a:t>hrs</a:t>
            </a:r>
            <a:r>
              <a:rPr lang="en-US" dirty="0">
                <a:solidFill>
                  <a:schemeClr val="bg1"/>
                </a:solidFill>
              </a:rPr>
              <a:t> → 40 </a:t>
            </a:r>
            <a:r>
              <a:rPr lang="en-US" dirty="0" err="1">
                <a:solidFill>
                  <a:schemeClr val="bg1"/>
                </a:solidFill>
              </a:rPr>
              <a:t>hrs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3x more</a:t>
            </a:r>
            <a:r>
              <a:rPr lang="en-US" dirty="0">
                <a:solidFill>
                  <a:schemeClr val="bg1"/>
                </a:solidFill>
              </a:rPr>
              <a:t> projects per engineer per year (4 → 12)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$180k productivity gain</a:t>
            </a:r>
            <a:r>
              <a:rPr lang="en-US" dirty="0">
                <a:solidFill>
                  <a:schemeClr val="bg1"/>
                </a:solidFill>
              </a:rPr>
              <a:t> per engineer annually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Do more with same team</a:t>
            </a:r>
            <a:r>
              <a:rPr lang="en-US" dirty="0">
                <a:solidFill>
                  <a:schemeClr val="bg1"/>
                </a:solidFill>
              </a:rPr>
              <a:t> – no extra hiring needed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8A45AA2-C556-5E77-FD2E-77A9A86EEB09}"/>
              </a:ext>
            </a:extLst>
          </p:cNvPr>
          <p:cNvCxnSpPr>
            <a:cxnSpLocks/>
          </p:cNvCxnSpPr>
          <p:nvPr/>
        </p:nvCxnSpPr>
        <p:spPr>
          <a:xfrm>
            <a:off x="5480050" y="1871877"/>
            <a:ext cx="0" cy="59163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8523E7D-874C-7CD9-31B4-23634DFDCE27}"/>
              </a:ext>
            </a:extLst>
          </p:cNvPr>
          <p:cNvCxnSpPr>
            <a:cxnSpLocks/>
          </p:cNvCxnSpPr>
          <p:nvPr/>
        </p:nvCxnSpPr>
        <p:spPr>
          <a:xfrm flipV="1">
            <a:off x="515161" y="7990466"/>
            <a:ext cx="12027469" cy="82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ADF7B203-F29A-3449-3B54-72B7F8075586}"/>
              </a:ext>
            </a:extLst>
          </p:cNvPr>
          <p:cNvSpPr txBox="1"/>
          <p:nvPr/>
        </p:nvSpPr>
        <p:spPr>
          <a:xfrm>
            <a:off x="425018" y="8388372"/>
            <a:ext cx="4237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highlight>
                  <a:srgbClr val="00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🔍 Early Risk Detection &amp; Prevention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7DD05D5-F064-93F0-E55B-1E101E2C2BF7}"/>
              </a:ext>
            </a:extLst>
          </p:cNvPr>
          <p:cNvSpPr txBox="1"/>
          <p:nvPr/>
        </p:nvSpPr>
        <p:spPr>
          <a:xfrm>
            <a:off x="472055" y="8783183"/>
            <a:ext cx="633648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Detects stress risks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before failure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Flags manufacturing issues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proactively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 seconds vs. days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AI speed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before prototyping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no rework delays</a:t>
            </a:r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E3DB3D9C-A9C5-6D39-71CE-31B8DD794E3B}"/>
              </a:ext>
            </a:extLst>
          </p:cNvPr>
          <p:cNvSpPr/>
          <p:nvPr/>
        </p:nvSpPr>
        <p:spPr>
          <a:xfrm>
            <a:off x="4946584" y="8862613"/>
            <a:ext cx="1219200" cy="63753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5918CFFA-0BCA-D363-1703-2E662F811B1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053" y="8273314"/>
            <a:ext cx="5313528" cy="20144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03DEB971-D87F-129A-C196-CB204FCDF0B7}"/>
              </a:ext>
            </a:extLst>
          </p:cNvPr>
          <p:cNvSpPr/>
          <p:nvPr/>
        </p:nvSpPr>
        <p:spPr>
          <a:xfrm>
            <a:off x="13100050" y="8862613"/>
            <a:ext cx="6705600" cy="159266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  <a:shade val="30000"/>
                  <a:satMod val="115000"/>
                </a:schemeClr>
              </a:gs>
              <a:gs pos="50000">
                <a:schemeClr val="accent1">
                  <a:lumMod val="67000"/>
                  <a:shade val="67500"/>
                  <a:satMod val="115000"/>
                </a:schemeClr>
              </a:gs>
              <a:gs pos="100000">
                <a:schemeClr val="accent1">
                  <a:lumMod val="67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accent1">
                    <a:lumMod val="50000"/>
                  </a:schemeClr>
                </a:solidFill>
              </a:ln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90648F5-6372-8FAC-2BAF-FD0B56FCBC22}"/>
              </a:ext>
            </a:extLst>
          </p:cNvPr>
          <p:cNvSpPr txBox="1"/>
          <p:nvPr/>
        </p:nvSpPr>
        <p:spPr>
          <a:xfrm>
            <a:off x="13197455" y="9265979"/>
            <a:ext cx="64345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⏱️ 80% less review time | 📈 3x more projects per engineer | 💰 $180k productivity gain | 👥 Same team | 🔄 Zero rework.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>
            <a:extLst>
              <a:ext uri="{FF2B5EF4-FFF2-40B4-BE49-F238E27FC236}">
                <a16:creationId xmlns:a16="http://schemas.microsoft.com/office/drawing/2014/main" id="{E5288005-D9FA-647B-521F-ECB149FB6164}"/>
              </a:ext>
            </a:extLst>
          </p:cNvPr>
          <p:cNvSpPr/>
          <p:nvPr/>
        </p:nvSpPr>
        <p:spPr>
          <a:xfrm>
            <a:off x="13121816" y="7407275"/>
            <a:ext cx="6682022" cy="31242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GB" sz="18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0EBA31-D071-3ACB-9FC2-A6CC4645F249}"/>
              </a:ext>
            </a:extLst>
          </p:cNvPr>
          <p:cNvSpPr/>
          <p:nvPr/>
        </p:nvSpPr>
        <p:spPr>
          <a:xfrm>
            <a:off x="146050" y="1539875"/>
            <a:ext cx="13106400" cy="38862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GB" sz="18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76198"/>
            <a:ext cx="2127441" cy="110766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dirty="0"/>
              <a:t>Plan</a:t>
            </a:r>
            <a:r>
              <a:rPr spc="-1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Budget</a:t>
            </a:r>
            <a:r>
              <a:rPr spc="-35" dirty="0"/>
              <a:t> </a:t>
            </a:r>
            <a:r>
              <a:rPr spc="-10" dirty="0"/>
              <a:t>Needed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991E3E-E275-4865-8359-C8BFDB61C90B}"/>
              </a:ext>
            </a:extLst>
          </p:cNvPr>
          <p:cNvSpPr/>
          <p:nvPr/>
        </p:nvSpPr>
        <p:spPr>
          <a:xfrm flipH="1">
            <a:off x="3270250" y="1736209"/>
            <a:ext cx="4842067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en-US" b="1" u="sng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DEVELOPMENT PHASES (Estimated)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0970DE5-83A8-02CC-7BF9-39844D7192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805" y="2559453"/>
            <a:ext cx="1045031" cy="8096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458AE7C-7CFC-197B-AEF5-B4B33D6FB8C3}"/>
              </a:ext>
            </a:extLst>
          </p:cNvPr>
          <p:cNvSpPr txBox="1"/>
          <p:nvPr/>
        </p:nvSpPr>
        <p:spPr>
          <a:xfrm>
            <a:off x="1856597" y="2285786"/>
            <a:ext cx="54301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 – Core Setup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 + API connection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geometry extraction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10–15 design rules implemented</a:t>
            </a:r>
          </a:p>
          <a:p>
            <a:pPr algn="just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66739E5-2624-5FBF-DFD9-8F67473986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466" y="2289383"/>
            <a:ext cx="1297959" cy="107719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3B3FD69-014E-00BD-3847-107B13599893}"/>
              </a:ext>
            </a:extLst>
          </p:cNvPr>
          <p:cNvSpPr txBox="1"/>
          <p:nvPr/>
        </p:nvSpPr>
        <p:spPr>
          <a:xfrm>
            <a:off x="7762189" y="3450347"/>
            <a:ext cx="32804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4 – Pilot Ready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Beta version for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feedback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readiness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C265878-15DC-5407-E1EB-A07A8FDB36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28" y="3518302"/>
            <a:ext cx="1177870" cy="102653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6FC44E6-767D-7234-F4C7-22816FFC20B5}"/>
              </a:ext>
            </a:extLst>
          </p:cNvPr>
          <p:cNvSpPr txBox="1"/>
          <p:nvPr/>
        </p:nvSpPr>
        <p:spPr>
          <a:xfrm>
            <a:off x="7773574" y="2332782"/>
            <a:ext cx="3352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Phase 2 – Validation Engine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Rule-based violation detection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deployment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049BDA1-892A-B2B2-AEB0-49F95ACA81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540" y="3481692"/>
            <a:ext cx="1218649" cy="111399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D878C72-BBC2-8D42-1B4B-CAFF0689A84E}"/>
              </a:ext>
            </a:extLst>
          </p:cNvPr>
          <p:cNvSpPr txBox="1"/>
          <p:nvPr/>
        </p:nvSpPr>
        <p:spPr>
          <a:xfrm>
            <a:off x="1856597" y="3474628"/>
            <a:ext cx="35385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Phase 3 – AI Integration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model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suggestions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polish &amp; testing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07734D-BB29-0906-EA7E-25D7E97A8FBD}"/>
              </a:ext>
            </a:extLst>
          </p:cNvPr>
          <p:cNvSpPr/>
          <p:nvPr/>
        </p:nvSpPr>
        <p:spPr>
          <a:xfrm>
            <a:off x="13098238" y="1539875"/>
            <a:ext cx="6705600" cy="5867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GB" sz="18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ABE513-4FCA-25FF-69E8-108558E310BC}"/>
              </a:ext>
            </a:extLst>
          </p:cNvPr>
          <p:cNvSpPr/>
          <p:nvPr/>
        </p:nvSpPr>
        <p:spPr>
          <a:xfrm>
            <a:off x="14382770" y="1920875"/>
            <a:ext cx="378821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u="sng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BUDGET ESTIMATED</a:t>
            </a:r>
            <a:r>
              <a:rPr lang="en-US" b="1" u="sng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(Prototype)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BE8CE2F4-E8F1-99B3-AA20-9B22C264D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943564"/>
              </p:ext>
            </p:extLst>
          </p:nvPr>
        </p:nvGraphicFramePr>
        <p:xfrm>
          <a:off x="13690011" y="2382650"/>
          <a:ext cx="5498234" cy="448056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749117">
                  <a:extLst>
                    <a:ext uri="{9D8B030D-6E8A-4147-A177-3AD203B41FA5}">
                      <a16:colId xmlns:a16="http://schemas.microsoft.com/office/drawing/2014/main" val="827559620"/>
                    </a:ext>
                  </a:extLst>
                </a:gridCol>
                <a:gridCol w="2749117">
                  <a:extLst>
                    <a:ext uri="{9D8B030D-6E8A-4147-A177-3AD203B41FA5}">
                      <a16:colId xmlns:a16="http://schemas.microsoft.com/office/drawing/2014/main" val="2943935706"/>
                    </a:ext>
                  </a:extLst>
                </a:gridCol>
              </a:tblGrid>
              <a:tr h="607529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lt1"/>
                          </a:solidFill>
                          <a:effectLst/>
                        </a:rPr>
                        <a:t>Category</a:t>
                      </a:r>
                      <a:endParaRPr lang="en-IN" b="1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lt1"/>
                          </a:solidFill>
                          <a:effectLst/>
                        </a:rPr>
                        <a:t>Estimated Cost </a:t>
                      </a:r>
                      <a:endParaRPr lang="en-IN" b="1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370971"/>
                  </a:ext>
                </a:extLst>
              </a:tr>
              <a:tr h="607529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chemeClr val="dk1"/>
                          </a:solidFill>
                          <a:effectLst/>
                        </a:rPr>
                        <a:t>Cloud services (AWS)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chemeClr val="dk1"/>
                          </a:solidFill>
                          <a:effectLst/>
                        </a:rPr>
                        <a:t>10,000 – 15,000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741501"/>
                  </a:ext>
                </a:extLst>
              </a:tr>
              <a:tr h="607529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chemeClr val="dk1"/>
                          </a:solidFill>
                          <a:effectLst/>
                        </a:rPr>
                        <a:t>CAD software (trial/free)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820095"/>
                  </a:ext>
                </a:extLst>
              </a:tr>
              <a:tr h="607529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chemeClr val="dk1"/>
                          </a:solidFill>
                          <a:effectLst/>
                        </a:rPr>
                        <a:t>Development tools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233910"/>
                  </a:ext>
                </a:extLst>
              </a:tr>
              <a:tr h="607529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chemeClr val="dk1"/>
                          </a:solidFill>
                          <a:effectLst/>
                        </a:rPr>
                        <a:t>UI/assets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dk1"/>
                          </a:solidFill>
                          <a:effectLst/>
                        </a:rPr>
                        <a:t>2,000 – 5,000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966594"/>
                  </a:ext>
                </a:extLst>
              </a:tr>
              <a:tr h="607529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chemeClr val="dk1"/>
                          </a:solidFill>
                          <a:effectLst/>
                        </a:rPr>
                        <a:t>Contingency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chemeClr val="dk1"/>
                          </a:solidFill>
                          <a:effectLst/>
                        </a:rPr>
                        <a:t>5,000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264099"/>
                  </a:ext>
                </a:extLst>
              </a:tr>
              <a:tr h="607529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dk1"/>
                          </a:solidFill>
                          <a:effectLst/>
                        </a:rPr>
                        <a:t>TOTAL ESTIMATE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dk1"/>
                          </a:solidFill>
                          <a:effectLst/>
                        </a:rPr>
                        <a:t> 17,000 –  25,000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108122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F0F4D03A-8018-735F-9161-932EB4BC0A73}"/>
              </a:ext>
            </a:extLst>
          </p:cNvPr>
          <p:cNvSpPr txBox="1"/>
          <p:nvPr/>
        </p:nvSpPr>
        <p:spPr>
          <a:xfrm>
            <a:off x="14088838" y="6955653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“Actual costs may vary based on requirements”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FC186F-A7A8-31B2-058D-2AA2AD042C53}"/>
              </a:ext>
            </a:extLst>
          </p:cNvPr>
          <p:cNvSpPr txBox="1"/>
          <p:nvPr/>
        </p:nvSpPr>
        <p:spPr>
          <a:xfrm>
            <a:off x="3617639" y="4576710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“Timeline depends on team size &amp; resources”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1FDC4ED-D632-8BD0-5679-B4A183D7044A}"/>
              </a:ext>
            </a:extLst>
          </p:cNvPr>
          <p:cNvSpPr/>
          <p:nvPr/>
        </p:nvSpPr>
        <p:spPr>
          <a:xfrm>
            <a:off x="146050" y="5502275"/>
            <a:ext cx="12928368" cy="50292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1890000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78BD25E-64D6-DB05-43D1-49C1D3858E41}"/>
              </a:ext>
            </a:extLst>
          </p:cNvPr>
          <p:cNvSpPr/>
          <p:nvPr/>
        </p:nvSpPr>
        <p:spPr>
          <a:xfrm>
            <a:off x="326484" y="6955653"/>
            <a:ext cx="2622550" cy="295848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61BE0EF-9C3B-09C1-A9AE-3341F5B7DE6B}"/>
              </a:ext>
            </a:extLst>
          </p:cNvPr>
          <p:cNvSpPr/>
          <p:nvPr/>
        </p:nvSpPr>
        <p:spPr>
          <a:xfrm>
            <a:off x="603250" y="6207562"/>
            <a:ext cx="181331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Stage 1: Planning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3ACEF9-4C74-DACE-55A1-56F6BC34BF62}"/>
              </a:ext>
            </a:extLst>
          </p:cNvPr>
          <p:cNvSpPr txBox="1"/>
          <p:nvPr/>
        </p:nvSpPr>
        <p:spPr>
          <a:xfrm>
            <a:off x="331890" y="7523128"/>
            <a:ext cx="2684068" cy="2264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📋 CAD plugin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architecture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📋 Backend API design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📋 20+ design rules mapped </a:t>
            </a:r>
          </a:p>
          <a:p>
            <a:pPr algn="l">
              <a:lnSpc>
                <a:spcPct val="150000"/>
              </a:lnSpc>
            </a:pP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68F1D48-0B52-50A5-9B22-79A39A9A8876}"/>
              </a:ext>
            </a:extLst>
          </p:cNvPr>
          <p:cNvSpPr/>
          <p:nvPr/>
        </p:nvSpPr>
        <p:spPr>
          <a:xfrm>
            <a:off x="3600913" y="6955653"/>
            <a:ext cx="2622550" cy="295848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4" name="Rectangle 6">
            <a:extLst>
              <a:ext uri="{FF2B5EF4-FFF2-40B4-BE49-F238E27FC236}">
                <a16:creationId xmlns:a16="http://schemas.microsoft.com/office/drawing/2014/main" id="{4B52F03C-4830-F4B7-E584-4E9AF7867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1088" y="7302855"/>
            <a:ext cx="2362200" cy="2264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⚙️ SolidWorks API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integration.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⚙️ Spring Boot backend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⚙️ Rule-based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validation system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0DCFBB3D-5066-3D4B-F999-F1C86C68271B}"/>
              </a:ext>
            </a:extLst>
          </p:cNvPr>
          <p:cNvSpPr/>
          <p:nvPr/>
        </p:nvSpPr>
        <p:spPr>
          <a:xfrm>
            <a:off x="6967776" y="6955653"/>
            <a:ext cx="2622550" cy="295848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351B5002-DEEB-16A8-00E9-C2A0BB3DD5BA}"/>
              </a:ext>
            </a:extLst>
          </p:cNvPr>
          <p:cNvSpPr/>
          <p:nvPr/>
        </p:nvSpPr>
        <p:spPr>
          <a:xfrm>
            <a:off x="10310819" y="6955653"/>
            <a:ext cx="2622550" cy="295848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ADE0EFF-FDC6-C4B0-30DC-813C56CC6907}"/>
              </a:ext>
            </a:extLst>
          </p:cNvPr>
          <p:cNvSpPr txBox="1"/>
          <p:nvPr/>
        </p:nvSpPr>
        <p:spPr>
          <a:xfrm>
            <a:off x="6967776" y="7712075"/>
            <a:ext cx="2732989" cy="1155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🔍 Violation detection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🔍 Report generation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🔍 Performance tuning </a:t>
            </a:r>
          </a:p>
        </p:txBody>
      </p:sp>
      <p:sp>
        <p:nvSpPr>
          <p:cNvPr id="59" name="Rectangle 7">
            <a:extLst>
              <a:ext uri="{FF2B5EF4-FFF2-40B4-BE49-F238E27FC236}">
                <a16:creationId xmlns:a16="http://schemas.microsoft.com/office/drawing/2014/main" id="{4C632196-82C5-878F-088A-ACDD9FEDC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3757" y="7309437"/>
            <a:ext cx="2460611" cy="2264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🏆 Working prototype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🏆 Real-time CAD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Validation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🏆 Demo ready for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Eureka.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5CB2E93-C7F8-8A54-7EB5-21D32A0DF594}"/>
              </a:ext>
            </a:extLst>
          </p:cNvPr>
          <p:cNvSpPr/>
          <p:nvPr/>
        </p:nvSpPr>
        <p:spPr>
          <a:xfrm>
            <a:off x="10566058" y="6207562"/>
            <a:ext cx="187743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Stage 4: Achieved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051113C-2446-3CAA-43A8-866DA086CEA9}"/>
              </a:ext>
            </a:extLst>
          </p:cNvPr>
          <p:cNvSpPr/>
          <p:nvPr/>
        </p:nvSpPr>
        <p:spPr>
          <a:xfrm>
            <a:off x="7327651" y="6203396"/>
            <a:ext cx="168507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Stage 3: Testing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B1E1798-C235-C61C-5B10-44534D7E7F33}"/>
              </a:ext>
            </a:extLst>
          </p:cNvPr>
          <p:cNvSpPr/>
          <p:nvPr/>
        </p:nvSpPr>
        <p:spPr>
          <a:xfrm>
            <a:off x="3930109" y="6199560"/>
            <a:ext cx="180049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Stage 2: Building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802528B7-60A9-A595-5AE8-4EA2D008A2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071" y="7115298"/>
            <a:ext cx="736881" cy="73946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FC9CC5D-86AA-CF77-B1C3-B181412B1F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088" y="7040723"/>
            <a:ext cx="758827" cy="733104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406F81A-F68B-EA10-A1A0-3F9A0380D3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776" y="7115298"/>
            <a:ext cx="842963" cy="757238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EC61C41-2DA9-A329-8AC1-875CA52D6D0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181" y="6907590"/>
            <a:ext cx="799603" cy="866237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2A0AE998-A7C8-6A0C-6185-6C0A5BA8B98A}"/>
              </a:ext>
            </a:extLst>
          </p:cNvPr>
          <p:cNvSpPr txBox="1"/>
          <p:nvPr/>
        </p:nvSpPr>
        <p:spPr>
          <a:xfrm>
            <a:off x="61098" y="7340708"/>
            <a:ext cx="2684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F155A1B-2C3A-25CE-FF0C-1AA15F5BEB47}"/>
              </a:ext>
            </a:extLst>
          </p:cNvPr>
          <p:cNvSpPr txBox="1"/>
          <p:nvPr/>
        </p:nvSpPr>
        <p:spPr>
          <a:xfrm>
            <a:off x="3501023" y="7266177"/>
            <a:ext cx="2684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endParaRPr lang="en-US" sz="18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0C4BF69-5629-7D81-DA7C-DF97624E47C7}"/>
              </a:ext>
            </a:extLst>
          </p:cNvPr>
          <p:cNvSpPr txBox="1"/>
          <p:nvPr/>
        </p:nvSpPr>
        <p:spPr>
          <a:xfrm>
            <a:off x="6779918" y="7281022"/>
            <a:ext cx="2684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F30F354-E209-2746-2788-F5FB8C100FCC}"/>
              </a:ext>
            </a:extLst>
          </p:cNvPr>
          <p:cNvSpPr txBox="1"/>
          <p:nvPr/>
        </p:nvSpPr>
        <p:spPr>
          <a:xfrm>
            <a:off x="10445580" y="7222609"/>
            <a:ext cx="2684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ACHIVED</a:t>
            </a:r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6EE7CFB4-B9EA-9A53-8415-C29061BAED08}"/>
              </a:ext>
            </a:extLst>
          </p:cNvPr>
          <p:cNvSpPr/>
          <p:nvPr/>
        </p:nvSpPr>
        <p:spPr>
          <a:xfrm>
            <a:off x="2779923" y="8093075"/>
            <a:ext cx="841838" cy="733104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8" name="Arrow: Right 77">
            <a:extLst>
              <a:ext uri="{FF2B5EF4-FFF2-40B4-BE49-F238E27FC236}">
                <a16:creationId xmlns:a16="http://schemas.microsoft.com/office/drawing/2014/main" id="{46395917-C688-4B4E-CCA1-A515A789D982}"/>
              </a:ext>
            </a:extLst>
          </p:cNvPr>
          <p:cNvSpPr/>
          <p:nvPr/>
        </p:nvSpPr>
        <p:spPr>
          <a:xfrm>
            <a:off x="9506699" y="8089957"/>
            <a:ext cx="841838" cy="733104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12C5F897-AD85-4B9E-B0FE-CA2E5E842E9B}"/>
              </a:ext>
            </a:extLst>
          </p:cNvPr>
          <p:cNvSpPr/>
          <p:nvPr/>
        </p:nvSpPr>
        <p:spPr>
          <a:xfrm>
            <a:off x="6107571" y="8089957"/>
            <a:ext cx="841838" cy="733104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013F06BF-C511-413C-59DF-7F777389CD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4850" y="7635508"/>
            <a:ext cx="6172200" cy="26673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1681</TotalTime>
  <Words>1376</Words>
  <Application>Microsoft Office PowerPoint</Application>
  <PresentationFormat>Custom</PresentationFormat>
  <Paragraphs>259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Courier New</vt:lpstr>
      <vt:lpstr>Times New Roman</vt:lpstr>
      <vt:lpstr>Verdana</vt:lpstr>
      <vt:lpstr>Office Theme</vt:lpstr>
      <vt:lpstr>Team Name : Code_crafters</vt:lpstr>
      <vt:lpstr> About ourself</vt:lpstr>
      <vt:lpstr>Problem Statement #9: AI-Driven Design Intelligence for Early Stage CAD</vt:lpstr>
      <vt:lpstr>Design Details – Architecture &amp; Approach</vt:lpstr>
      <vt:lpstr>Major Risk And Mitigation</vt:lpstr>
      <vt:lpstr>Business Potential</vt:lpstr>
      <vt:lpstr>Plan And Budget Needed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 praveen kumar</dc:creator>
  <cp:lastModifiedBy>k praveen kumar</cp:lastModifiedBy>
  <cp:revision>11</cp:revision>
  <dcterms:created xsi:type="dcterms:W3CDTF">2026-04-10T19:01:49Z</dcterms:created>
  <dcterms:modified xsi:type="dcterms:W3CDTF">2026-04-12T08:53:46Z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2026-03-23T00:00:00Z</vt:filetime>
  </property>
  <property fmtid="{D5CDD505-2E9C-101B-9397-08002B2CF9AE}" pid="3" name="Creator">
    <vt:lpwstr>ÿþC</vt:lpwstr>
  </property>
  <property fmtid="{D5CDD505-2E9C-101B-9397-08002B2CF9AE}" pid="4" name="LastSaved">
    <vt:filetime>2026-04-10T00:00:00Z</vt:filetime>
  </property>
  <property fmtid="{D5CDD505-2E9C-101B-9397-08002B2CF9AE}" pid="5" name="Producer">
    <vt:lpwstr>ÿþC</vt:lpwstr>
  </property>
</Properties>
</file>